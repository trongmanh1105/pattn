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Noto Sans Bold" charset="1" panose="020B0802040504020204"/>
      <p:regular r:id="rId22"/>
    </p:embeddedFont>
    <p:embeddedFont>
      <p:font typeface="Noto Sans" charset="1" panose="020B050204050402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33.png" Type="http://schemas.openxmlformats.org/officeDocument/2006/relationships/image"/><Relationship Id="rId9" Target="../media/image3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media/image41.png" Type="http://schemas.openxmlformats.org/officeDocument/2006/relationships/image"/><Relationship Id="rId9" Target="../media/image4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4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35109" y="1402782"/>
            <a:ext cx="14817781" cy="3124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4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ĐÁNH GIÁ HIỆU QUẢ CỦA MÔ HÌNH PAttn TRONG DỰ BÁO CHUỖI THỜI GIAN VÀ SO SÁNH VỚI CÁC MÔ HÌNH DỰA TRÊN LLM</a:t>
            </a:r>
          </a:p>
          <a:p>
            <a:pPr algn="ctr">
              <a:lnSpc>
                <a:spcPts val="6299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2354890" y="5137310"/>
            <a:ext cx="9504896" cy="35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Sinh viên thực hiện : Nguyễn Trọng Mạnh Tiền 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Lớp                             : 65TTNT 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MSV                            : 2351260689 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GVHD                         : ThS.Trần Anh Đạt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Trường Đại học Thủy Lợi - Khoa CNTT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8507" y="1048319"/>
            <a:ext cx="5859520" cy="1504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68"/>
              </a:lnSpc>
            </a:pPr>
            <a:r>
              <a:rPr lang="en-US" sz="8763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Tổng quan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8571" y="3711156"/>
            <a:ext cx="12258850" cy="4523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184"/>
              </a:lnSpc>
            </a:pPr>
            <a:r>
              <a:rPr lang="en-US" sz="5131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I. Bài toán đặt ra</a:t>
            </a:r>
          </a:p>
          <a:p>
            <a:pPr algn="just">
              <a:lnSpc>
                <a:spcPts val="7184"/>
              </a:lnSpc>
            </a:pPr>
            <a:r>
              <a:rPr lang="en-US" sz="5131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II. Tổng quan dataset</a:t>
            </a:r>
          </a:p>
          <a:p>
            <a:pPr algn="just">
              <a:lnSpc>
                <a:spcPts val="7184"/>
              </a:lnSpc>
            </a:pPr>
            <a:r>
              <a:rPr lang="en-US" sz="5131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III. Kiến trúc mô hình thực nghiệm</a:t>
            </a:r>
          </a:p>
          <a:p>
            <a:pPr algn="just">
              <a:lnSpc>
                <a:spcPts val="7184"/>
              </a:lnSpc>
            </a:pPr>
          </a:p>
          <a:p>
            <a:pPr algn="just">
              <a:lnSpc>
                <a:spcPts val="7184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05127" y="3035147"/>
            <a:ext cx="7364683" cy="4900862"/>
          </a:xfrm>
          <a:custGeom>
            <a:avLst/>
            <a:gdLst/>
            <a:ahLst/>
            <a:cxnLst/>
            <a:rect r="r" b="b" t="t" l="l"/>
            <a:pathLst>
              <a:path h="4900862" w="7364683">
                <a:moveTo>
                  <a:pt x="0" y="0"/>
                </a:moveTo>
                <a:lnTo>
                  <a:pt x="7364682" y="0"/>
                </a:lnTo>
                <a:lnTo>
                  <a:pt x="7364682" y="4900861"/>
                </a:lnTo>
                <a:lnTo>
                  <a:pt x="0" y="49008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35197" y="3394090"/>
            <a:ext cx="7558802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Dự báo chuỗi thời gian dựa trên LLM: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Đột phá hay chỉ là xu hướng?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35197" y="6072943"/>
            <a:ext cx="7708803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Liệu sức mạnh của các mô hình ngôn ngữ lớn (GPT-2, LLaMA) có thực sự chuyển hóa thành khả năng dự báo số liệu chính xác hơn?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35197" y="1363119"/>
            <a:ext cx="551021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I. Bài toán đặt ra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24589" y="4887405"/>
            <a:ext cx="9863411" cy="4183832"/>
          </a:xfrm>
          <a:custGeom>
            <a:avLst/>
            <a:gdLst/>
            <a:ahLst/>
            <a:cxnLst/>
            <a:rect r="r" b="b" t="t" l="l"/>
            <a:pathLst>
              <a:path h="4183832" w="9863411">
                <a:moveTo>
                  <a:pt x="0" y="0"/>
                </a:moveTo>
                <a:lnTo>
                  <a:pt x="9863411" y="0"/>
                </a:lnTo>
                <a:lnTo>
                  <a:pt x="9863411" y="4183832"/>
                </a:lnTo>
                <a:lnTo>
                  <a:pt x="0" y="41838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00" t="0" r="-6469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10488" y="584511"/>
            <a:ext cx="896504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II. Tổng quan về bộ dataset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68364" y="2557456"/>
            <a:ext cx="16855235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ETTm2 là bộ dữ liệu benchmark công khai trong bài toán dự báo chuỗi thời gian, ghi nhận các chỉ số vận hành của </a:t>
            </a:r>
            <a:r>
              <a:rPr lang="en-US" sz="33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máy biến áp điện</a:t>
            </a: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theo </a:t>
            </a:r>
            <a:r>
              <a:rPr lang="en-US" sz="33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tần suất 15 phút.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8700" y="5276202"/>
            <a:ext cx="8205889" cy="334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1050" indent="-345525" lvl="1">
              <a:lnSpc>
                <a:spcPts val="4481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Dữ liệu đa biến:</a:t>
            </a:r>
            <a:r>
              <a:rPr lang="en-US" sz="32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nhiệt độ dầu (OT) và tải điện.</a:t>
            </a:r>
          </a:p>
          <a:p>
            <a:pPr algn="l" marL="691050" indent="-345525" lvl="1">
              <a:lnSpc>
                <a:spcPts val="4481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Dùng để đánh giá, đối chiếu hiệu năng mô hình.</a:t>
            </a:r>
          </a:p>
          <a:p>
            <a:pPr algn="l" marL="691050" indent="-345525" lvl="1">
              <a:lnSpc>
                <a:spcPts val="4481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Chia theo thời gian: 70% train – 10% validation – 20% test.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86398" y="3988891"/>
            <a:ext cx="13050436" cy="6043449"/>
          </a:xfrm>
          <a:custGeom>
            <a:avLst/>
            <a:gdLst/>
            <a:ahLst/>
            <a:cxnLst/>
            <a:rect r="r" b="b" t="t" l="l"/>
            <a:pathLst>
              <a:path h="6043449" w="13050436">
                <a:moveTo>
                  <a:pt x="0" y="0"/>
                </a:moveTo>
                <a:lnTo>
                  <a:pt x="13050436" y="0"/>
                </a:lnTo>
                <a:lnTo>
                  <a:pt x="13050436" y="6043448"/>
                </a:lnTo>
                <a:lnTo>
                  <a:pt x="0" y="60434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153" r="0" b="-119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56628" y="705167"/>
            <a:ext cx="525211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Dữ liệu private: BTC/USDT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05677" y="1404932"/>
            <a:ext cx="15653623" cy="3026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6380" indent="-373190" lvl="1">
              <a:lnSpc>
                <a:spcPts val="4839"/>
              </a:lnSpc>
              <a:buFont typeface="Arial"/>
              <a:buChar char="•"/>
            </a:pPr>
            <a:r>
              <a:rPr lang="en-US" sz="3457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BTC/USDT được thu thập từ Binance API theo chu kỳ 15 phút, dùng để đánh giá mô hình trong bối cảnh thị trường tài chính thực tế.</a:t>
            </a:r>
          </a:p>
          <a:p>
            <a:pPr algn="l" marL="746380" indent="-373190" lvl="1">
              <a:lnSpc>
                <a:spcPts val="4839"/>
              </a:lnSpc>
              <a:buFont typeface="Arial"/>
              <a:buChar char="•"/>
            </a:pPr>
            <a:r>
              <a:rPr lang="en-US" sz="3457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Dữ liệu được chia theo thứ tự thời gian, không xáo trộn:</a:t>
            </a:r>
          </a:p>
          <a:p>
            <a:pPr algn="l" marL="746380" indent="-373190" lvl="1">
              <a:lnSpc>
                <a:spcPts val="4839"/>
              </a:lnSpc>
              <a:buFont typeface="Arial"/>
              <a:buChar char="•"/>
            </a:pPr>
            <a:r>
              <a:rPr lang="en-US" sz="3457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70% train – 10% validation – 20% test.</a:t>
            </a:r>
          </a:p>
          <a:p>
            <a:pPr algn="l">
              <a:lnSpc>
                <a:spcPts val="483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7367" y="537527"/>
            <a:ext cx="1218478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III. Kiến trúc mô hình thực nghiệm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42232" y="2904763"/>
            <a:ext cx="6141398" cy="331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9"/>
              </a:lnSpc>
            </a:pPr>
            <a:r>
              <a:rPr lang="en-US" sz="3785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PAttn</a:t>
            </a:r>
          </a:p>
          <a:p>
            <a:pPr algn="l" marL="817324" indent="-408662" lvl="1">
              <a:lnSpc>
                <a:spcPts val="5299"/>
              </a:lnSpc>
              <a:buFont typeface="Arial"/>
              <a:buChar char="•"/>
            </a:pPr>
            <a:r>
              <a:rPr lang="en-US" sz="3785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Patching + Multi-Head Attention</a:t>
            </a:r>
          </a:p>
          <a:p>
            <a:pPr algn="l" marL="817324" indent="-408662" lvl="1">
              <a:lnSpc>
                <a:spcPts val="5299"/>
              </a:lnSpc>
              <a:buFont typeface="Arial"/>
              <a:buChar char="•"/>
            </a:pPr>
            <a:r>
              <a:rPr lang="en-US" sz="3785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Baseline nhẹ hơn, không sử dụng LLM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38292" y="8077835"/>
            <a:ext cx="15981423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Mục ti</a:t>
            </a:r>
            <a:r>
              <a:rPr lang="en-US" b="true" sz="33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êu thực nghiệm: </a:t>
            </a: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Đánh giá hiệu quả của mô hình PAttn trong dự báo chuỗi thời gian và so sánh với các mô hình dựa trên LLM cùng bộ dữ liệu.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405157" y="1672022"/>
            <a:ext cx="3087013" cy="6225088"/>
            <a:chOff x="0" y="0"/>
            <a:chExt cx="4116017" cy="830011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613101" y="6770561"/>
              <a:ext cx="2837908" cy="1529556"/>
              <a:chOff x="0" y="0"/>
              <a:chExt cx="822261" cy="44317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22261" cy="443177"/>
              </a:xfrm>
              <a:custGeom>
                <a:avLst/>
                <a:gdLst/>
                <a:ahLst/>
                <a:cxnLst/>
                <a:rect r="r" b="b" t="t" l="l"/>
                <a:pathLst>
                  <a:path h="443177" w="822261">
                    <a:moveTo>
                      <a:pt x="126469" y="0"/>
                    </a:moveTo>
                    <a:lnTo>
                      <a:pt x="695793" y="0"/>
                    </a:lnTo>
                    <a:cubicBezTo>
                      <a:pt x="765640" y="0"/>
                      <a:pt x="822261" y="56622"/>
                      <a:pt x="822261" y="126469"/>
                    </a:cubicBezTo>
                    <a:lnTo>
                      <a:pt x="822261" y="316708"/>
                    </a:lnTo>
                    <a:cubicBezTo>
                      <a:pt x="822261" y="386555"/>
                      <a:pt x="765640" y="443177"/>
                      <a:pt x="695793" y="443177"/>
                    </a:cubicBezTo>
                    <a:lnTo>
                      <a:pt x="126469" y="443177"/>
                    </a:lnTo>
                    <a:cubicBezTo>
                      <a:pt x="56622" y="443177"/>
                      <a:pt x="0" y="386555"/>
                      <a:pt x="0" y="316708"/>
                    </a:cubicBezTo>
                    <a:lnTo>
                      <a:pt x="0" y="126469"/>
                    </a:lnTo>
                    <a:cubicBezTo>
                      <a:pt x="0" y="56622"/>
                      <a:pt x="56622" y="0"/>
                      <a:pt x="126469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822261" cy="4908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659348" y="7127969"/>
              <a:ext cx="2791661" cy="6423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2"/>
                </a:lnSpc>
              </a:pPr>
              <a:r>
                <a:rPr lang="en-US" sz="1401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Patching</a:t>
              </a:r>
            </a:p>
            <a:p>
              <a:pPr algn="ctr">
                <a:lnSpc>
                  <a:spcPts val="1962"/>
                </a:lnSpc>
                <a:spcBef>
                  <a:spcPct val="0"/>
                </a:spcBef>
              </a:pPr>
              <a:r>
                <a:rPr lang="en-US" sz="1401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(Channel Independence) 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639055" y="3760107"/>
              <a:ext cx="2837908" cy="1529556"/>
              <a:chOff x="0" y="0"/>
              <a:chExt cx="822261" cy="443177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22261" cy="443177"/>
              </a:xfrm>
              <a:custGeom>
                <a:avLst/>
                <a:gdLst/>
                <a:ahLst/>
                <a:cxnLst/>
                <a:rect r="r" b="b" t="t" l="l"/>
                <a:pathLst>
                  <a:path h="443177" w="822261">
                    <a:moveTo>
                      <a:pt x="126469" y="0"/>
                    </a:moveTo>
                    <a:lnTo>
                      <a:pt x="695793" y="0"/>
                    </a:lnTo>
                    <a:cubicBezTo>
                      <a:pt x="765640" y="0"/>
                      <a:pt x="822261" y="56622"/>
                      <a:pt x="822261" y="126469"/>
                    </a:cubicBezTo>
                    <a:lnTo>
                      <a:pt x="822261" y="316708"/>
                    </a:lnTo>
                    <a:cubicBezTo>
                      <a:pt x="822261" y="386555"/>
                      <a:pt x="765640" y="443177"/>
                      <a:pt x="695793" y="443177"/>
                    </a:cubicBezTo>
                    <a:lnTo>
                      <a:pt x="126469" y="443177"/>
                    </a:lnTo>
                    <a:cubicBezTo>
                      <a:pt x="56622" y="443177"/>
                      <a:pt x="0" y="386555"/>
                      <a:pt x="0" y="316708"/>
                    </a:cubicBezTo>
                    <a:lnTo>
                      <a:pt x="0" y="126469"/>
                    </a:lnTo>
                    <a:cubicBezTo>
                      <a:pt x="0" y="56622"/>
                      <a:pt x="56622" y="0"/>
                      <a:pt x="126469" y="0"/>
                    </a:cubicBezTo>
                    <a:close/>
                  </a:path>
                </a:pathLst>
              </a:custGeom>
              <a:solidFill>
                <a:srgbClr val="9BD09E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822261" cy="4908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083218" y="4266722"/>
              <a:ext cx="1949580" cy="639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2"/>
                </a:lnSpc>
              </a:pPr>
              <a:r>
                <a:rPr lang="en-US" sz="1401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Linear Projection</a:t>
              </a:r>
            </a:p>
            <a:p>
              <a:pPr algn="ctr">
                <a:lnSpc>
                  <a:spcPts val="1962"/>
                </a:lnSpc>
                <a:spcBef>
                  <a:spcPct val="0"/>
                </a:spcBef>
              </a:pPr>
            </a:p>
          </p:txBody>
        </p:sp>
        <p:grpSp>
          <p:nvGrpSpPr>
            <p:cNvPr name="Group 14" id="14"/>
            <p:cNvGrpSpPr/>
            <p:nvPr/>
          </p:nvGrpSpPr>
          <p:grpSpPr>
            <a:xfrm rot="0">
              <a:off x="514197" y="1880054"/>
              <a:ext cx="2837908" cy="1529556"/>
              <a:chOff x="0" y="0"/>
              <a:chExt cx="822261" cy="443177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22261" cy="443177"/>
              </a:xfrm>
              <a:custGeom>
                <a:avLst/>
                <a:gdLst/>
                <a:ahLst/>
                <a:cxnLst/>
                <a:rect r="r" b="b" t="t" l="l"/>
                <a:pathLst>
                  <a:path h="443177" w="822261">
                    <a:moveTo>
                      <a:pt x="126469" y="0"/>
                    </a:moveTo>
                    <a:lnTo>
                      <a:pt x="695793" y="0"/>
                    </a:lnTo>
                    <a:cubicBezTo>
                      <a:pt x="765640" y="0"/>
                      <a:pt x="822261" y="56622"/>
                      <a:pt x="822261" y="126469"/>
                    </a:cubicBezTo>
                    <a:lnTo>
                      <a:pt x="822261" y="316708"/>
                    </a:lnTo>
                    <a:cubicBezTo>
                      <a:pt x="822261" y="386555"/>
                      <a:pt x="765640" y="443177"/>
                      <a:pt x="695793" y="443177"/>
                    </a:cubicBezTo>
                    <a:lnTo>
                      <a:pt x="126469" y="443177"/>
                    </a:lnTo>
                    <a:cubicBezTo>
                      <a:pt x="56622" y="443177"/>
                      <a:pt x="0" y="386555"/>
                      <a:pt x="0" y="316708"/>
                    </a:cubicBezTo>
                    <a:lnTo>
                      <a:pt x="0" y="126469"/>
                    </a:lnTo>
                    <a:cubicBezTo>
                      <a:pt x="0" y="56622"/>
                      <a:pt x="56622" y="0"/>
                      <a:pt x="126469" y="0"/>
                    </a:cubicBezTo>
                    <a:close/>
                  </a:path>
                </a:pathLst>
              </a:custGeom>
              <a:solidFill>
                <a:srgbClr val="FDFF95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47625"/>
                <a:ext cx="822261" cy="4908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912114" y="2526708"/>
              <a:ext cx="2273586" cy="312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08"/>
                </a:lnSpc>
                <a:spcBef>
                  <a:spcPct val="0"/>
                </a:spcBef>
              </a:pPr>
              <a:r>
                <a:rPr lang="en-US" sz="1363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Multi-Head Attention</a:t>
              </a:r>
            </a:p>
          </p:txBody>
        </p:sp>
        <p:grpSp>
          <p:nvGrpSpPr>
            <p:cNvPr name="Group 18" id="18"/>
            <p:cNvGrpSpPr/>
            <p:nvPr/>
          </p:nvGrpSpPr>
          <p:grpSpPr>
            <a:xfrm rot="0">
              <a:off x="613101" y="0"/>
              <a:ext cx="2503360" cy="1529556"/>
              <a:chOff x="0" y="0"/>
              <a:chExt cx="725329" cy="443177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725329" cy="443177"/>
              </a:xfrm>
              <a:custGeom>
                <a:avLst/>
                <a:gdLst/>
                <a:ahLst/>
                <a:cxnLst/>
                <a:rect r="r" b="b" t="t" l="l"/>
                <a:pathLst>
                  <a:path h="443177" w="725329">
                    <a:moveTo>
                      <a:pt x="143370" y="0"/>
                    </a:moveTo>
                    <a:lnTo>
                      <a:pt x="581959" y="0"/>
                    </a:lnTo>
                    <a:cubicBezTo>
                      <a:pt x="661140" y="0"/>
                      <a:pt x="725329" y="64189"/>
                      <a:pt x="725329" y="143370"/>
                    </a:cubicBezTo>
                    <a:lnTo>
                      <a:pt x="725329" y="299807"/>
                    </a:lnTo>
                    <a:cubicBezTo>
                      <a:pt x="725329" y="378988"/>
                      <a:pt x="661140" y="443177"/>
                      <a:pt x="581959" y="443177"/>
                    </a:cubicBezTo>
                    <a:lnTo>
                      <a:pt x="143370" y="443177"/>
                    </a:lnTo>
                    <a:cubicBezTo>
                      <a:pt x="64189" y="443177"/>
                      <a:pt x="0" y="378988"/>
                      <a:pt x="0" y="299807"/>
                    </a:cubicBezTo>
                    <a:lnTo>
                      <a:pt x="0" y="143370"/>
                    </a:lnTo>
                    <a:cubicBezTo>
                      <a:pt x="0" y="64189"/>
                      <a:pt x="64189" y="0"/>
                      <a:pt x="143370" y="0"/>
                    </a:cubicBezTo>
                    <a:close/>
                  </a:path>
                </a:pathLst>
              </a:custGeom>
              <a:solidFill>
                <a:srgbClr val="F3E6FF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47625"/>
                <a:ext cx="725329" cy="4908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1113509" y="589590"/>
              <a:ext cx="1678471" cy="312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08"/>
                </a:lnSpc>
                <a:spcBef>
                  <a:spcPct val="0"/>
                </a:spcBef>
              </a:pPr>
              <a:r>
                <a:rPr lang="en-US" sz="1363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Flatten + Linear</a:t>
              </a:r>
            </a:p>
          </p:txBody>
        </p:sp>
        <p:sp>
          <p:nvSpPr>
            <p:cNvPr name="Freeform 22" id="22"/>
            <p:cNvSpPr/>
            <p:nvPr/>
          </p:nvSpPr>
          <p:spPr>
            <a:xfrm flipH="false" flipV="false" rot="0">
              <a:off x="2176535" y="5640161"/>
              <a:ext cx="779261" cy="779261"/>
            </a:xfrm>
            <a:custGeom>
              <a:avLst/>
              <a:gdLst/>
              <a:ahLst/>
              <a:cxnLst/>
              <a:rect r="r" b="b" t="t" l="l"/>
              <a:pathLst>
                <a:path h="779261" w="779261">
                  <a:moveTo>
                    <a:pt x="0" y="0"/>
                  </a:moveTo>
                  <a:lnTo>
                    <a:pt x="779261" y="0"/>
                  </a:lnTo>
                  <a:lnTo>
                    <a:pt x="779261" y="779261"/>
                  </a:lnTo>
                  <a:lnTo>
                    <a:pt x="0" y="779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3336757" y="5640161"/>
              <a:ext cx="779261" cy="779261"/>
            </a:xfrm>
            <a:custGeom>
              <a:avLst/>
              <a:gdLst/>
              <a:ahLst/>
              <a:cxnLst/>
              <a:rect r="r" b="b" t="t" l="l"/>
              <a:pathLst>
                <a:path h="779261" w="779261">
                  <a:moveTo>
                    <a:pt x="0" y="0"/>
                  </a:moveTo>
                  <a:lnTo>
                    <a:pt x="779260" y="0"/>
                  </a:lnTo>
                  <a:lnTo>
                    <a:pt x="779260" y="779261"/>
                  </a:lnTo>
                  <a:lnTo>
                    <a:pt x="0" y="779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163474" y="5640161"/>
              <a:ext cx="779261" cy="779261"/>
            </a:xfrm>
            <a:custGeom>
              <a:avLst/>
              <a:gdLst/>
              <a:ahLst/>
              <a:cxnLst/>
              <a:rect r="r" b="b" t="t" l="l"/>
              <a:pathLst>
                <a:path h="779261" w="779261">
                  <a:moveTo>
                    <a:pt x="0" y="0"/>
                  </a:moveTo>
                  <a:lnTo>
                    <a:pt x="779260" y="0"/>
                  </a:lnTo>
                  <a:lnTo>
                    <a:pt x="779260" y="779261"/>
                  </a:lnTo>
                  <a:lnTo>
                    <a:pt x="0" y="779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5640161"/>
              <a:ext cx="779261" cy="779261"/>
            </a:xfrm>
            <a:custGeom>
              <a:avLst/>
              <a:gdLst/>
              <a:ahLst/>
              <a:cxnLst/>
              <a:rect r="r" b="b" t="t" l="l"/>
              <a:pathLst>
                <a:path h="779261" w="779261">
                  <a:moveTo>
                    <a:pt x="0" y="0"/>
                  </a:moveTo>
                  <a:lnTo>
                    <a:pt x="779261" y="0"/>
                  </a:lnTo>
                  <a:lnTo>
                    <a:pt x="779261" y="779261"/>
                  </a:lnTo>
                  <a:lnTo>
                    <a:pt x="0" y="779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AutoShape 26" id="26"/>
            <p:cNvSpPr/>
            <p:nvPr/>
          </p:nvSpPr>
          <p:spPr>
            <a:xfrm flipV="true">
              <a:off x="2058009" y="6419422"/>
              <a:ext cx="0" cy="350498"/>
            </a:xfrm>
            <a:prstGeom prst="line">
              <a:avLst/>
            </a:prstGeom>
            <a:ln cap="flat" w="34633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27" id="27"/>
            <p:cNvSpPr/>
            <p:nvPr/>
          </p:nvSpPr>
          <p:spPr>
            <a:xfrm flipV="true">
              <a:off x="2040692" y="5289663"/>
              <a:ext cx="0" cy="350498"/>
            </a:xfrm>
            <a:prstGeom prst="line">
              <a:avLst/>
            </a:prstGeom>
            <a:ln cap="flat" w="34633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28" id="28"/>
            <p:cNvSpPr/>
            <p:nvPr/>
          </p:nvSpPr>
          <p:spPr>
            <a:xfrm flipV="true">
              <a:off x="2014739" y="3409610"/>
              <a:ext cx="0" cy="350498"/>
            </a:xfrm>
            <a:prstGeom prst="line">
              <a:avLst/>
            </a:prstGeom>
            <a:ln cap="flat" w="34633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29" id="29"/>
            <p:cNvSpPr/>
            <p:nvPr/>
          </p:nvSpPr>
          <p:spPr>
            <a:xfrm flipV="true">
              <a:off x="1915835" y="1529556"/>
              <a:ext cx="0" cy="350498"/>
            </a:xfrm>
            <a:prstGeom prst="line">
              <a:avLst/>
            </a:prstGeom>
            <a:ln cap="flat" w="34633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8958" y="7558104"/>
            <a:ext cx="2495699" cy="1007158"/>
            <a:chOff x="0" y="0"/>
            <a:chExt cx="657304" cy="2652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57304" cy="265260"/>
            </a:xfrm>
            <a:custGeom>
              <a:avLst/>
              <a:gdLst/>
              <a:ahLst/>
              <a:cxnLst/>
              <a:rect r="r" b="b" t="t" l="l"/>
              <a:pathLst>
                <a:path h="265260" w="657304">
                  <a:moveTo>
                    <a:pt x="40327" y="0"/>
                  </a:moveTo>
                  <a:lnTo>
                    <a:pt x="616976" y="0"/>
                  </a:lnTo>
                  <a:cubicBezTo>
                    <a:pt x="639248" y="0"/>
                    <a:pt x="657304" y="18055"/>
                    <a:pt x="657304" y="40327"/>
                  </a:cubicBezTo>
                  <a:lnTo>
                    <a:pt x="657304" y="224932"/>
                  </a:lnTo>
                  <a:cubicBezTo>
                    <a:pt x="657304" y="235628"/>
                    <a:pt x="653055" y="245885"/>
                    <a:pt x="645492" y="253448"/>
                  </a:cubicBezTo>
                  <a:cubicBezTo>
                    <a:pt x="637929" y="261011"/>
                    <a:pt x="627672" y="265260"/>
                    <a:pt x="616976" y="265260"/>
                  </a:cubicBezTo>
                  <a:lnTo>
                    <a:pt x="40327" y="265260"/>
                  </a:lnTo>
                  <a:cubicBezTo>
                    <a:pt x="29632" y="265260"/>
                    <a:pt x="19374" y="261011"/>
                    <a:pt x="11812" y="253448"/>
                  </a:cubicBezTo>
                  <a:cubicBezTo>
                    <a:pt x="4249" y="245885"/>
                    <a:pt x="0" y="235628"/>
                    <a:pt x="0" y="224932"/>
                  </a:cubicBezTo>
                  <a:lnTo>
                    <a:pt x="0" y="40327"/>
                  </a:lnTo>
                  <a:cubicBezTo>
                    <a:pt x="0" y="29632"/>
                    <a:pt x="4249" y="19374"/>
                    <a:pt x="11812" y="11812"/>
                  </a:cubicBezTo>
                  <a:cubicBezTo>
                    <a:pt x="19374" y="4249"/>
                    <a:pt x="29632" y="0"/>
                    <a:pt x="40327" y="0"/>
                  </a:cubicBezTo>
                  <a:close/>
                </a:path>
              </a:pathLst>
            </a:custGeom>
            <a:solidFill>
              <a:srgbClr val="D9D9D9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657304" cy="312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Input patches </a:t>
              </a:r>
            </a:p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(B, M, P, patch_size)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012095" y="1855535"/>
            <a:ext cx="2431455" cy="921132"/>
            <a:chOff x="0" y="0"/>
            <a:chExt cx="640383" cy="2426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0383" cy="242603"/>
            </a:xfrm>
            <a:custGeom>
              <a:avLst/>
              <a:gdLst/>
              <a:ahLst/>
              <a:cxnLst/>
              <a:rect r="r" b="b" t="t" l="l"/>
              <a:pathLst>
                <a:path h="242603" w="640383">
                  <a:moveTo>
                    <a:pt x="41393" y="0"/>
                  </a:moveTo>
                  <a:lnTo>
                    <a:pt x="598990" y="0"/>
                  </a:lnTo>
                  <a:cubicBezTo>
                    <a:pt x="621851" y="0"/>
                    <a:pt x="640383" y="18532"/>
                    <a:pt x="640383" y="41393"/>
                  </a:cubicBezTo>
                  <a:lnTo>
                    <a:pt x="640383" y="201210"/>
                  </a:lnTo>
                  <a:cubicBezTo>
                    <a:pt x="640383" y="224071"/>
                    <a:pt x="621851" y="242603"/>
                    <a:pt x="598990" y="242603"/>
                  </a:cubicBezTo>
                  <a:lnTo>
                    <a:pt x="41393" y="242603"/>
                  </a:lnTo>
                  <a:cubicBezTo>
                    <a:pt x="18532" y="242603"/>
                    <a:pt x="0" y="224071"/>
                    <a:pt x="0" y="201210"/>
                  </a:cubicBezTo>
                  <a:lnTo>
                    <a:pt x="0" y="41393"/>
                  </a:lnTo>
                  <a:cubicBezTo>
                    <a:pt x="0" y="18532"/>
                    <a:pt x="18532" y="0"/>
                    <a:pt x="41393" y="0"/>
                  </a:cubicBezTo>
                  <a:close/>
                </a:path>
              </a:pathLst>
            </a:custGeom>
            <a:solidFill>
              <a:srgbClr val="FDFF95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40383" cy="290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Multi-Head Attention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964665" y="3328269"/>
            <a:ext cx="2399283" cy="861060"/>
            <a:chOff x="0" y="0"/>
            <a:chExt cx="631910" cy="2267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1910" cy="226781"/>
            </a:xfrm>
            <a:custGeom>
              <a:avLst/>
              <a:gdLst/>
              <a:ahLst/>
              <a:cxnLst/>
              <a:rect r="r" b="b" t="t" l="l"/>
              <a:pathLst>
                <a:path h="226781" w="631910">
                  <a:moveTo>
                    <a:pt x="41948" y="0"/>
                  </a:moveTo>
                  <a:lnTo>
                    <a:pt x="589962" y="0"/>
                  </a:lnTo>
                  <a:cubicBezTo>
                    <a:pt x="601087" y="0"/>
                    <a:pt x="611757" y="4420"/>
                    <a:pt x="619624" y="12286"/>
                  </a:cubicBezTo>
                  <a:cubicBezTo>
                    <a:pt x="627490" y="20153"/>
                    <a:pt x="631910" y="30823"/>
                    <a:pt x="631910" y="41948"/>
                  </a:cubicBezTo>
                  <a:lnTo>
                    <a:pt x="631910" y="184833"/>
                  </a:lnTo>
                  <a:cubicBezTo>
                    <a:pt x="631910" y="208001"/>
                    <a:pt x="613129" y="226781"/>
                    <a:pt x="589962" y="226781"/>
                  </a:cubicBezTo>
                  <a:lnTo>
                    <a:pt x="41948" y="226781"/>
                  </a:lnTo>
                  <a:cubicBezTo>
                    <a:pt x="18781" y="226781"/>
                    <a:pt x="0" y="208001"/>
                    <a:pt x="0" y="184833"/>
                  </a:cubicBezTo>
                  <a:lnTo>
                    <a:pt x="0" y="41948"/>
                  </a:lnTo>
                  <a:cubicBezTo>
                    <a:pt x="0" y="18781"/>
                    <a:pt x="18781" y="0"/>
                    <a:pt x="41948" y="0"/>
                  </a:cubicBezTo>
                  <a:close/>
                </a:path>
              </a:pathLst>
            </a:custGeom>
            <a:solidFill>
              <a:srgbClr val="F3E6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631910" cy="274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Forecast Head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012095" y="3328269"/>
            <a:ext cx="2431455" cy="861060"/>
            <a:chOff x="0" y="0"/>
            <a:chExt cx="640383" cy="22678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0383" cy="226781"/>
            </a:xfrm>
            <a:custGeom>
              <a:avLst/>
              <a:gdLst/>
              <a:ahLst/>
              <a:cxnLst/>
              <a:rect r="r" b="b" t="t" l="l"/>
              <a:pathLst>
                <a:path h="226781" w="640383">
                  <a:moveTo>
                    <a:pt x="41393" y="0"/>
                  </a:moveTo>
                  <a:lnTo>
                    <a:pt x="598990" y="0"/>
                  </a:lnTo>
                  <a:cubicBezTo>
                    <a:pt x="621851" y="0"/>
                    <a:pt x="640383" y="18532"/>
                    <a:pt x="640383" y="41393"/>
                  </a:cubicBezTo>
                  <a:lnTo>
                    <a:pt x="640383" y="185388"/>
                  </a:lnTo>
                  <a:cubicBezTo>
                    <a:pt x="640383" y="208249"/>
                    <a:pt x="621851" y="226781"/>
                    <a:pt x="598990" y="226781"/>
                  </a:cubicBezTo>
                  <a:lnTo>
                    <a:pt x="41393" y="226781"/>
                  </a:lnTo>
                  <a:cubicBezTo>
                    <a:pt x="18532" y="226781"/>
                    <a:pt x="0" y="208249"/>
                    <a:pt x="0" y="185388"/>
                  </a:cubicBezTo>
                  <a:lnTo>
                    <a:pt x="0" y="41393"/>
                  </a:lnTo>
                  <a:cubicBezTo>
                    <a:pt x="0" y="18532"/>
                    <a:pt x="18532" y="0"/>
                    <a:pt x="41393" y="0"/>
                  </a:cubicBezTo>
                  <a:close/>
                </a:path>
              </a:pathLst>
            </a:custGeom>
            <a:solidFill>
              <a:srgbClr val="9BD09E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640383" cy="274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Patch Embedding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012095" y="7618804"/>
            <a:ext cx="2431455" cy="885759"/>
            <a:chOff x="0" y="0"/>
            <a:chExt cx="640383" cy="23328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0383" cy="233286"/>
            </a:xfrm>
            <a:custGeom>
              <a:avLst/>
              <a:gdLst/>
              <a:ahLst/>
              <a:cxnLst/>
              <a:rect r="r" b="b" t="t" l="l"/>
              <a:pathLst>
                <a:path h="233286" w="640383">
                  <a:moveTo>
                    <a:pt x="41393" y="0"/>
                  </a:moveTo>
                  <a:lnTo>
                    <a:pt x="598990" y="0"/>
                  </a:lnTo>
                  <a:cubicBezTo>
                    <a:pt x="621851" y="0"/>
                    <a:pt x="640383" y="18532"/>
                    <a:pt x="640383" y="41393"/>
                  </a:cubicBezTo>
                  <a:lnTo>
                    <a:pt x="640383" y="191893"/>
                  </a:lnTo>
                  <a:cubicBezTo>
                    <a:pt x="640383" y="214754"/>
                    <a:pt x="621851" y="233286"/>
                    <a:pt x="598990" y="233286"/>
                  </a:cubicBezTo>
                  <a:lnTo>
                    <a:pt x="41393" y="233286"/>
                  </a:lnTo>
                  <a:cubicBezTo>
                    <a:pt x="18532" y="233286"/>
                    <a:pt x="0" y="214754"/>
                    <a:pt x="0" y="191893"/>
                  </a:cubicBezTo>
                  <a:lnTo>
                    <a:pt x="0" y="41393"/>
                  </a:lnTo>
                  <a:cubicBezTo>
                    <a:pt x="0" y="18532"/>
                    <a:pt x="18532" y="0"/>
                    <a:pt x="41393" y="0"/>
                  </a:cubicBezTo>
                  <a:close/>
                </a:path>
              </a:pathLst>
            </a:custGeom>
            <a:solidFill>
              <a:srgbClr val="0097B2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640383" cy="2809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Sliding Window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964665" y="1916678"/>
            <a:ext cx="2399283" cy="916290"/>
            <a:chOff x="0" y="0"/>
            <a:chExt cx="631910" cy="24132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1910" cy="241327"/>
            </a:xfrm>
            <a:custGeom>
              <a:avLst/>
              <a:gdLst/>
              <a:ahLst/>
              <a:cxnLst/>
              <a:rect r="r" b="b" t="t" l="l"/>
              <a:pathLst>
                <a:path h="241327" w="631910">
                  <a:moveTo>
                    <a:pt x="41948" y="0"/>
                  </a:moveTo>
                  <a:lnTo>
                    <a:pt x="589962" y="0"/>
                  </a:lnTo>
                  <a:cubicBezTo>
                    <a:pt x="601087" y="0"/>
                    <a:pt x="611757" y="4420"/>
                    <a:pt x="619624" y="12286"/>
                  </a:cubicBezTo>
                  <a:cubicBezTo>
                    <a:pt x="627490" y="20153"/>
                    <a:pt x="631910" y="30823"/>
                    <a:pt x="631910" y="41948"/>
                  </a:cubicBezTo>
                  <a:lnTo>
                    <a:pt x="631910" y="199379"/>
                  </a:lnTo>
                  <a:cubicBezTo>
                    <a:pt x="631910" y="222547"/>
                    <a:pt x="613129" y="241327"/>
                    <a:pt x="589962" y="241327"/>
                  </a:cubicBezTo>
                  <a:lnTo>
                    <a:pt x="41948" y="241327"/>
                  </a:lnTo>
                  <a:cubicBezTo>
                    <a:pt x="18781" y="241327"/>
                    <a:pt x="0" y="222547"/>
                    <a:pt x="0" y="199379"/>
                  </a:cubicBezTo>
                  <a:lnTo>
                    <a:pt x="0" y="41948"/>
                  </a:lnTo>
                  <a:cubicBezTo>
                    <a:pt x="0" y="18781"/>
                    <a:pt x="18781" y="0"/>
                    <a:pt x="41948" y="0"/>
                  </a:cubicBezTo>
                  <a:close/>
                </a:path>
              </a:pathLst>
            </a:custGeom>
            <a:solidFill>
              <a:srgbClr val="99C3EC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631910" cy="288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Output projection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474673" y="7618804"/>
            <a:ext cx="2540739" cy="1007158"/>
            <a:chOff x="0" y="0"/>
            <a:chExt cx="669166" cy="2652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69166" cy="265260"/>
            </a:xfrm>
            <a:custGeom>
              <a:avLst/>
              <a:gdLst/>
              <a:ahLst/>
              <a:cxnLst/>
              <a:rect r="r" b="b" t="t" l="l"/>
              <a:pathLst>
                <a:path h="265260" w="669166">
                  <a:moveTo>
                    <a:pt x="39612" y="0"/>
                  </a:moveTo>
                  <a:lnTo>
                    <a:pt x="629553" y="0"/>
                  </a:lnTo>
                  <a:cubicBezTo>
                    <a:pt x="651431" y="0"/>
                    <a:pt x="669166" y="17735"/>
                    <a:pt x="669166" y="39612"/>
                  </a:cubicBezTo>
                  <a:lnTo>
                    <a:pt x="669166" y="225647"/>
                  </a:lnTo>
                  <a:cubicBezTo>
                    <a:pt x="669166" y="236153"/>
                    <a:pt x="664992" y="246229"/>
                    <a:pt x="657563" y="253657"/>
                  </a:cubicBezTo>
                  <a:cubicBezTo>
                    <a:pt x="650135" y="261086"/>
                    <a:pt x="640059" y="265260"/>
                    <a:pt x="629553" y="265260"/>
                  </a:cubicBezTo>
                  <a:lnTo>
                    <a:pt x="39612" y="265260"/>
                  </a:lnTo>
                  <a:cubicBezTo>
                    <a:pt x="29107" y="265260"/>
                    <a:pt x="19031" y="261086"/>
                    <a:pt x="11602" y="253657"/>
                  </a:cubicBezTo>
                  <a:cubicBezTo>
                    <a:pt x="4173" y="246229"/>
                    <a:pt x="0" y="236153"/>
                    <a:pt x="0" y="225647"/>
                  </a:cubicBezTo>
                  <a:lnTo>
                    <a:pt x="0" y="39612"/>
                  </a:lnTo>
                  <a:cubicBezTo>
                    <a:pt x="0" y="29107"/>
                    <a:pt x="4173" y="19031"/>
                    <a:pt x="11602" y="11602"/>
                  </a:cubicBezTo>
                  <a:cubicBezTo>
                    <a:pt x="19031" y="4173"/>
                    <a:pt x="29107" y="0"/>
                    <a:pt x="39612" y="0"/>
                  </a:cubicBezTo>
                  <a:close/>
                </a:path>
              </a:pathLst>
            </a:custGeom>
            <a:solidFill>
              <a:srgbClr val="C9D7CE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669166" cy="312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M biến / M channel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996125" y="4684629"/>
            <a:ext cx="2399283" cy="937790"/>
            <a:chOff x="0" y="0"/>
            <a:chExt cx="631910" cy="24699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1910" cy="246990"/>
            </a:xfrm>
            <a:custGeom>
              <a:avLst/>
              <a:gdLst/>
              <a:ahLst/>
              <a:cxnLst/>
              <a:rect r="r" b="b" t="t" l="l"/>
              <a:pathLst>
                <a:path h="246990" w="631910">
                  <a:moveTo>
                    <a:pt x="41948" y="0"/>
                  </a:moveTo>
                  <a:lnTo>
                    <a:pt x="589962" y="0"/>
                  </a:lnTo>
                  <a:cubicBezTo>
                    <a:pt x="601087" y="0"/>
                    <a:pt x="611757" y="4420"/>
                    <a:pt x="619624" y="12286"/>
                  </a:cubicBezTo>
                  <a:cubicBezTo>
                    <a:pt x="627490" y="20153"/>
                    <a:pt x="631910" y="30823"/>
                    <a:pt x="631910" y="41948"/>
                  </a:cubicBezTo>
                  <a:lnTo>
                    <a:pt x="631910" y="205042"/>
                  </a:lnTo>
                  <a:cubicBezTo>
                    <a:pt x="631910" y="228209"/>
                    <a:pt x="613129" y="246990"/>
                    <a:pt x="589962" y="246990"/>
                  </a:cubicBezTo>
                  <a:lnTo>
                    <a:pt x="41948" y="246990"/>
                  </a:lnTo>
                  <a:cubicBezTo>
                    <a:pt x="30823" y="246990"/>
                    <a:pt x="20153" y="242571"/>
                    <a:pt x="12286" y="234704"/>
                  </a:cubicBezTo>
                  <a:cubicBezTo>
                    <a:pt x="4420" y="226837"/>
                    <a:pt x="0" y="216167"/>
                    <a:pt x="0" y="205042"/>
                  </a:cubicBezTo>
                  <a:lnTo>
                    <a:pt x="0" y="41948"/>
                  </a:lnTo>
                  <a:cubicBezTo>
                    <a:pt x="0" y="18781"/>
                    <a:pt x="18781" y="0"/>
                    <a:pt x="41948" y="0"/>
                  </a:cubicBezTo>
                  <a:close/>
                </a:path>
              </a:pathLst>
            </a:custGeom>
            <a:solidFill>
              <a:srgbClr val="FEE0E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631910" cy="294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Forecast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012095" y="4720218"/>
            <a:ext cx="2431455" cy="917742"/>
            <a:chOff x="0" y="0"/>
            <a:chExt cx="640383" cy="24171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40383" cy="241710"/>
            </a:xfrm>
            <a:custGeom>
              <a:avLst/>
              <a:gdLst/>
              <a:ahLst/>
              <a:cxnLst/>
              <a:rect r="r" b="b" t="t" l="l"/>
              <a:pathLst>
                <a:path h="241710" w="640383">
                  <a:moveTo>
                    <a:pt x="41393" y="0"/>
                  </a:moveTo>
                  <a:lnTo>
                    <a:pt x="598990" y="0"/>
                  </a:lnTo>
                  <a:cubicBezTo>
                    <a:pt x="621851" y="0"/>
                    <a:pt x="640383" y="18532"/>
                    <a:pt x="640383" y="41393"/>
                  </a:cubicBezTo>
                  <a:lnTo>
                    <a:pt x="640383" y="200317"/>
                  </a:lnTo>
                  <a:cubicBezTo>
                    <a:pt x="640383" y="223178"/>
                    <a:pt x="621851" y="241710"/>
                    <a:pt x="598990" y="241710"/>
                  </a:cubicBezTo>
                  <a:lnTo>
                    <a:pt x="41393" y="241710"/>
                  </a:lnTo>
                  <a:cubicBezTo>
                    <a:pt x="18532" y="241710"/>
                    <a:pt x="0" y="223178"/>
                    <a:pt x="0" y="200317"/>
                  </a:cubicBezTo>
                  <a:lnTo>
                    <a:pt x="0" y="41393"/>
                  </a:lnTo>
                  <a:cubicBezTo>
                    <a:pt x="0" y="18532"/>
                    <a:pt x="18532" y="0"/>
                    <a:pt x="41393" y="0"/>
                  </a:cubicBezTo>
                  <a:close/>
                </a:path>
              </a:pathLst>
            </a:custGeom>
            <a:solidFill>
              <a:srgbClr val="E2A9F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640383" cy="2893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Patching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012095" y="6168850"/>
            <a:ext cx="2431455" cy="898352"/>
            <a:chOff x="0" y="0"/>
            <a:chExt cx="640383" cy="23660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40383" cy="236603"/>
            </a:xfrm>
            <a:custGeom>
              <a:avLst/>
              <a:gdLst/>
              <a:ahLst/>
              <a:cxnLst/>
              <a:rect r="r" b="b" t="t" l="l"/>
              <a:pathLst>
                <a:path h="236603" w="640383">
                  <a:moveTo>
                    <a:pt x="41393" y="0"/>
                  </a:moveTo>
                  <a:lnTo>
                    <a:pt x="598990" y="0"/>
                  </a:lnTo>
                  <a:cubicBezTo>
                    <a:pt x="621851" y="0"/>
                    <a:pt x="640383" y="18532"/>
                    <a:pt x="640383" y="41393"/>
                  </a:cubicBezTo>
                  <a:lnTo>
                    <a:pt x="640383" y="195210"/>
                  </a:lnTo>
                  <a:cubicBezTo>
                    <a:pt x="640383" y="218071"/>
                    <a:pt x="621851" y="236603"/>
                    <a:pt x="598990" y="236603"/>
                  </a:cubicBezTo>
                  <a:lnTo>
                    <a:pt x="41393" y="236603"/>
                  </a:lnTo>
                  <a:cubicBezTo>
                    <a:pt x="18532" y="236603"/>
                    <a:pt x="0" y="218071"/>
                    <a:pt x="0" y="195210"/>
                  </a:cubicBezTo>
                  <a:lnTo>
                    <a:pt x="0" y="41393"/>
                  </a:lnTo>
                  <a:cubicBezTo>
                    <a:pt x="0" y="18532"/>
                    <a:pt x="18532" y="0"/>
                    <a:pt x="41393" y="0"/>
                  </a:cubicBezTo>
                  <a:close/>
                </a:path>
              </a:pathLst>
            </a:custGeom>
            <a:solidFill>
              <a:srgbClr val="A6A6A6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640383" cy="284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Instance Normalize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5028297" y="6139066"/>
            <a:ext cx="2367111" cy="848895"/>
            <a:chOff x="0" y="0"/>
            <a:chExt cx="623437" cy="22357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23437" cy="223577"/>
            </a:xfrm>
            <a:custGeom>
              <a:avLst/>
              <a:gdLst/>
              <a:ahLst/>
              <a:cxnLst/>
              <a:rect r="r" b="b" t="t" l="l"/>
              <a:pathLst>
                <a:path h="223577" w="623437">
                  <a:moveTo>
                    <a:pt x="42518" y="0"/>
                  </a:moveTo>
                  <a:lnTo>
                    <a:pt x="580919" y="0"/>
                  </a:lnTo>
                  <a:cubicBezTo>
                    <a:pt x="604401" y="0"/>
                    <a:pt x="623437" y="19036"/>
                    <a:pt x="623437" y="42518"/>
                  </a:cubicBezTo>
                  <a:lnTo>
                    <a:pt x="623437" y="181059"/>
                  </a:lnTo>
                  <a:cubicBezTo>
                    <a:pt x="623437" y="204541"/>
                    <a:pt x="604401" y="223577"/>
                    <a:pt x="580919" y="223577"/>
                  </a:cubicBezTo>
                  <a:lnTo>
                    <a:pt x="42518" y="223577"/>
                  </a:lnTo>
                  <a:cubicBezTo>
                    <a:pt x="31242" y="223577"/>
                    <a:pt x="20427" y="219098"/>
                    <a:pt x="12453" y="211124"/>
                  </a:cubicBezTo>
                  <a:cubicBezTo>
                    <a:pt x="4480" y="203150"/>
                    <a:pt x="0" y="192336"/>
                    <a:pt x="0" y="181059"/>
                  </a:cubicBezTo>
                  <a:lnTo>
                    <a:pt x="0" y="42518"/>
                  </a:lnTo>
                  <a:cubicBezTo>
                    <a:pt x="0" y="19036"/>
                    <a:pt x="19036" y="0"/>
                    <a:pt x="42518" y="0"/>
                  </a:cubicBezTo>
                  <a:close/>
                </a:path>
              </a:pathLst>
            </a:custGeom>
            <a:solidFill>
              <a:srgbClr val="FEF3C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623437" cy="2712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Loss Function</a:t>
              </a: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376181" y="4848954"/>
            <a:ext cx="4349074" cy="2010827"/>
          </a:xfrm>
          <a:custGeom>
            <a:avLst/>
            <a:gdLst/>
            <a:ahLst/>
            <a:cxnLst/>
            <a:rect r="r" b="b" t="t" l="l"/>
            <a:pathLst>
              <a:path h="2010827" w="4349074">
                <a:moveTo>
                  <a:pt x="0" y="0"/>
                </a:moveTo>
                <a:lnTo>
                  <a:pt x="4349074" y="0"/>
                </a:lnTo>
                <a:lnTo>
                  <a:pt x="4349074" y="2010827"/>
                </a:lnTo>
                <a:lnTo>
                  <a:pt x="0" y="20108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960935" y="355600"/>
            <a:ext cx="2451199" cy="120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  <a:spcBef>
                <a:spcPct val="0"/>
              </a:spcBef>
            </a:pPr>
            <a:r>
              <a:rPr lang="en-US" b="true" sz="70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Pattn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838128" y="764563"/>
            <a:ext cx="5177284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(Patching + Attention)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6032871" y="4766791"/>
            <a:ext cx="3424343" cy="2175152"/>
            <a:chOff x="0" y="0"/>
            <a:chExt cx="4565791" cy="2900203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4565791" cy="806775"/>
              <a:chOff x="0" y="0"/>
              <a:chExt cx="9362880" cy="1654421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9362880" cy="1654421"/>
              </a:xfrm>
              <a:custGeom>
                <a:avLst/>
                <a:gdLst/>
                <a:ahLst/>
                <a:cxnLst/>
                <a:rect r="r" b="b" t="t" l="l"/>
                <a:pathLst>
                  <a:path h="1654421" w="9362880">
                    <a:moveTo>
                      <a:pt x="9362880" y="1654421"/>
                    </a:moveTo>
                    <a:lnTo>
                      <a:pt x="0" y="1444084"/>
                    </a:lnTo>
                    <a:lnTo>
                      <a:pt x="0" y="0"/>
                    </a:lnTo>
                    <a:lnTo>
                      <a:pt x="9362880" y="210337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5130" t="0" r="-5130" b="0"/>
                </a:stretch>
              </a:blipFill>
            </p:spPr>
          </p:sp>
        </p:grpSp>
        <p:grpSp>
          <p:nvGrpSpPr>
            <p:cNvPr name="Group 41" id="41"/>
            <p:cNvGrpSpPr/>
            <p:nvPr/>
          </p:nvGrpSpPr>
          <p:grpSpPr>
            <a:xfrm rot="0">
              <a:off x="104357" y="806775"/>
              <a:ext cx="4461434" cy="947053"/>
              <a:chOff x="0" y="0"/>
              <a:chExt cx="9976301" cy="2117725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9976301" cy="2117725"/>
              </a:xfrm>
              <a:custGeom>
                <a:avLst/>
                <a:gdLst/>
                <a:ahLst/>
                <a:cxnLst/>
                <a:rect r="r" b="b" t="t" l="l"/>
                <a:pathLst>
                  <a:path h="2117725" w="9976301">
                    <a:moveTo>
                      <a:pt x="9976301" y="2117725"/>
                    </a:moveTo>
                    <a:lnTo>
                      <a:pt x="0" y="1848485"/>
                    </a:lnTo>
                    <a:lnTo>
                      <a:pt x="0" y="0"/>
                    </a:lnTo>
                    <a:lnTo>
                      <a:pt x="9976301" y="26924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13599" t="0" r="-13599" b="0"/>
                </a:stretch>
              </a:blipFill>
            </p:spPr>
          </p:sp>
        </p:grpSp>
        <p:grpSp>
          <p:nvGrpSpPr>
            <p:cNvPr name="Group 43" id="43"/>
            <p:cNvGrpSpPr/>
            <p:nvPr/>
          </p:nvGrpSpPr>
          <p:grpSpPr>
            <a:xfrm rot="0">
              <a:off x="159511" y="1753829"/>
              <a:ext cx="4351125" cy="1146374"/>
              <a:chOff x="0" y="0"/>
              <a:chExt cx="10322624" cy="2719661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10322624" cy="2719661"/>
              </a:xfrm>
              <a:custGeom>
                <a:avLst/>
                <a:gdLst/>
                <a:ahLst/>
                <a:cxnLst/>
                <a:rect r="r" b="b" t="t" l="l"/>
                <a:pathLst>
                  <a:path h="2719661" w="10322624">
                    <a:moveTo>
                      <a:pt x="10322624" y="2719661"/>
                    </a:moveTo>
                    <a:lnTo>
                      <a:pt x="0" y="2373893"/>
                    </a:lnTo>
                    <a:lnTo>
                      <a:pt x="0" y="0"/>
                    </a:lnTo>
                    <a:lnTo>
                      <a:pt x="10322624" y="345768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25331" t="0" r="-25331" b="0"/>
                </a:stretch>
              </a:blipFill>
            </p:spPr>
          </p:sp>
        </p:grpSp>
      </p:grpSp>
      <p:sp>
        <p:nvSpPr>
          <p:cNvPr name="AutoShape 45" id="45"/>
          <p:cNvSpPr/>
          <p:nvPr/>
        </p:nvSpPr>
        <p:spPr>
          <a:xfrm flipV="true">
            <a:off x="3644657" y="8042633"/>
            <a:ext cx="284638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6" id="46"/>
          <p:cNvSpPr/>
          <p:nvPr/>
        </p:nvSpPr>
        <p:spPr>
          <a:xfrm>
            <a:off x="9010514" y="8061683"/>
            <a:ext cx="200158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7" id="47"/>
          <p:cNvSpPr/>
          <p:nvPr/>
        </p:nvSpPr>
        <p:spPr>
          <a:xfrm flipV="true">
            <a:off x="12227822" y="7067202"/>
            <a:ext cx="0" cy="55160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8" id="48"/>
          <p:cNvSpPr/>
          <p:nvPr/>
        </p:nvSpPr>
        <p:spPr>
          <a:xfrm flipV="true">
            <a:off x="12174701" y="5628265"/>
            <a:ext cx="0" cy="55160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9" id="49"/>
          <p:cNvSpPr/>
          <p:nvPr/>
        </p:nvSpPr>
        <p:spPr>
          <a:xfrm flipV="true">
            <a:off x="12155651" y="4168616"/>
            <a:ext cx="0" cy="55160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0" id="50"/>
          <p:cNvSpPr/>
          <p:nvPr/>
        </p:nvSpPr>
        <p:spPr>
          <a:xfrm flipV="true">
            <a:off x="12174701" y="2776667"/>
            <a:ext cx="0" cy="55160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1" id="51"/>
          <p:cNvSpPr/>
          <p:nvPr/>
        </p:nvSpPr>
        <p:spPr>
          <a:xfrm flipV="true">
            <a:off x="16110881" y="5587464"/>
            <a:ext cx="0" cy="55160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52" id="52"/>
          <p:cNvSpPr/>
          <p:nvPr/>
        </p:nvSpPr>
        <p:spPr>
          <a:xfrm flipV="true">
            <a:off x="16040608" y="4133027"/>
            <a:ext cx="0" cy="55160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53" id="53"/>
          <p:cNvSpPr/>
          <p:nvPr/>
        </p:nvSpPr>
        <p:spPr>
          <a:xfrm flipV="true">
            <a:off x="16021558" y="2832969"/>
            <a:ext cx="0" cy="55160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54" id="54"/>
          <p:cNvSpPr/>
          <p:nvPr/>
        </p:nvSpPr>
        <p:spPr>
          <a:xfrm flipH="true">
            <a:off x="13443550" y="2393873"/>
            <a:ext cx="152111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3695" y="563925"/>
            <a:ext cx="4971246" cy="680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6"/>
              </a:lnSpc>
            </a:pPr>
            <a:r>
              <a:rPr lang="en-US" sz="3997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Chuẩn bị dữ liệu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510108" y="2410272"/>
            <a:ext cx="3188099" cy="1125855"/>
            <a:chOff x="0" y="0"/>
            <a:chExt cx="839664" cy="29652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39664" cy="296521"/>
            </a:xfrm>
            <a:custGeom>
              <a:avLst/>
              <a:gdLst/>
              <a:ahLst/>
              <a:cxnLst/>
              <a:rect r="r" b="b" t="t" l="l"/>
              <a:pathLst>
                <a:path h="296521" w="839664">
                  <a:moveTo>
                    <a:pt x="31569" y="0"/>
                  </a:moveTo>
                  <a:lnTo>
                    <a:pt x="808095" y="0"/>
                  </a:lnTo>
                  <a:cubicBezTo>
                    <a:pt x="825530" y="0"/>
                    <a:pt x="839664" y="14134"/>
                    <a:pt x="839664" y="31569"/>
                  </a:cubicBezTo>
                  <a:lnTo>
                    <a:pt x="839664" y="264952"/>
                  </a:lnTo>
                  <a:cubicBezTo>
                    <a:pt x="839664" y="282388"/>
                    <a:pt x="825530" y="296521"/>
                    <a:pt x="808095" y="296521"/>
                  </a:cubicBezTo>
                  <a:lnTo>
                    <a:pt x="31569" y="296521"/>
                  </a:lnTo>
                  <a:cubicBezTo>
                    <a:pt x="23196" y="296521"/>
                    <a:pt x="15167" y="293195"/>
                    <a:pt x="9246" y="287275"/>
                  </a:cubicBezTo>
                  <a:cubicBezTo>
                    <a:pt x="3326" y="281355"/>
                    <a:pt x="0" y="273325"/>
                    <a:pt x="0" y="264952"/>
                  </a:cubicBezTo>
                  <a:lnTo>
                    <a:pt x="0" y="31569"/>
                  </a:lnTo>
                  <a:cubicBezTo>
                    <a:pt x="0" y="14134"/>
                    <a:pt x="14134" y="0"/>
                    <a:pt x="31569" y="0"/>
                  </a:cubicBezTo>
                  <a:close/>
                </a:path>
              </a:pathLst>
            </a:custGeom>
            <a:solidFill>
              <a:srgbClr val="D9D9D9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839664" cy="3441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Input patches </a:t>
              </a:r>
            </a:p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(B, M, P, patch_size)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361269" y="2422503"/>
            <a:ext cx="3192658" cy="1113624"/>
            <a:chOff x="0" y="0"/>
            <a:chExt cx="840865" cy="293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40865" cy="293300"/>
            </a:xfrm>
            <a:custGeom>
              <a:avLst/>
              <a:gdLst/>
              <a:ahLst/>
              <a:cxnLst/>
              <a:rect r="r" b="b" t="t" l="l"/>
              <a:pathLst>
                <a:path h="293300" w="840865">
                  <a:moveTo>
                    <a:pt x="31524" y="0"/>
                  </a:moveTo>
                  <a:lnTo>
                    <a:pt x="809341" y="0"/>
                  </a:lnTo>
                  <a:cubicBezTo>
                    <a:pt x="817702" y="0"/>
                    <a:pt x="825720" y="3321"/>
                    <a:pt x="831632" y="9233"/>
                  </a:cubicBezTo>
                  <a:cubicBezTo>
                    <a:pt x="837544" y="15145"/>
                    <a:pt x="840865" y="23163"/>
                    <a:pt x="840865" y="31524"/>
                  </a:cubicBezTo>
                  <a:lnTo>
                    <a:pt x="840865" y="261776"/>
                  </a:lnTo>
                  <a:cubicBezTo>
                    <a:pt x="840865" y="270137"/>
                    <a:pt x="837544" y="278155"/>
                    <a:pt x="831632" y="284067"/>
                  </a:cubicBezTo>
                  <a:cubicBezTo>
                    <a:pt x="825720" y="289979"/>
                    <a:pt x="817702" y="293300"/>
                    <a:pt x="809341" y="293300"/>
                  </a:cubicBezTo>
                  <a:lnTo>
                    <a:pt x="31524" y="293300"/>
                  </a:lnTo>
                  <a:cubicBezTo>
                    <a:pt x="23163" y="293300"/>
                    <a:pt x="15145" y="289979"/>
                    <a:pt x="9233" y="284067"/>
                  </a:cubicBezTo>
                  <a:cubicBezTo>
                    <a:pt x="3321" y="278155"/>
                    <a:pt x="0" y="270137"/>
                    <a:pt x="0" y="261776"/>
                  </a:cubicBezTo>
                  <a:lnTo>
                    <a:pt x="0" y="31524"/>
                  </a:lnTo>
                  <a:cubicBezTo>
                    <a:pt x="0" y="23163"/>
                    <a:pt x="3321" y="15145"/>
                    <a:pt x="9233" y="9233"/>
                  </a:cubicBezTo>
                  <a:cubicBezTo>
                    <a:pt x="15145" y="3321"/>
                    <a:pt x="23163" y="0"/>
                    <a:pt x="31524" y="0"/>
                  </a:cubicBezTo>
                  <a:close/>
                </a:path>
              </a:pathLst>
            </a:custGeom>
            <a:solidFill>
              <a:srgbClr val="C9D7CE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40865" cy="340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M biến / M channel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216990" y="2422503"/>
            <a:ext cx="3232224" cy="1113624"/>
            <a:chOff x="0" y="0"/>
            <a:chExt cx="851285" cy="293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51285" cy="293300"/>
            </a:xfrm>
            <a:custGeom>
              <a:avLst/>
              <a:gdLst/>
              <a:ahLst/>
              <a:cxnLst/>
              <a:rect r="r" b="b" t="t" l="l"/>
              <a:pathLst>
                <a:path h="293300" w="851285">
                  <a:moveTo>
                    <a:pt x="31138" y="0"/>
                  </a:moveTo>
                  <a:lnTo>
                    <a:pt x="820147" y="0"/>
                  </a:lnTo>
                  <a:cubicBezTo>
                    <a:pt x="837344" y="0"/>
                    <a:pt x="851285" y="13941"/>
                    <a:pt x="851285" y="31138"/>
                  </a:cubicBezTo>
                  <a:lnTo>
                    <a:pt x="851285" y="262162"/>
                  </a:lnTo>
                  <a:cubicBezTo>
                    <a:pt x="851285" y="279359"/>
                    <a:pt x="837344" y="293300"/>
                    <a:pt x="820147" y="293300"/>
                  </a:cubicBezTo>
                  <a:lnTo>
                    <a:pt x="31138" y="293300"/>
                  </a:lnTo>
                  <a:cubicBezTo>
                    <a:pt x="13941" y="293300"/>
                    <a:pt x="0" y="279359"/>
                    <a:pt x="0" y="262162"/>
                  </a:cubicBezTo>
                  <a:lnTo>
                    <a:pt x="0" y="31138"/>
                  </a:lnTo>
                  <a:cubicBezTo>
                    <a:pt x="0" y="13941"/>
                    <a:pt x="13941" y="0"/>
                    <a:pt x="31138" y="0"/>
                  </a:cubicBezTo>
                  <a:close/>
                </a:path>
              </a:pathLst>
            </a:custGeom>
            <a:solidFill>
              <a:srgbClr val="0097B2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51285" cy="340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Sliding Window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587579" y="4804850"/>
            <a:ext cx="8002693" cy="4086221"/>
            <a:chOff x="0" y="0"/>
            <a:chExt cx="10670257" cy="5448295"/>
          </a:xfrm>
        </p:grpSpPr>
        <p:sp>
          <p:nvSpPr>
            <p:cNvPr name="AutoShape 13" id="13"/>
            <p:cNvSpPr/>
            <p:nvPr/>
          </p:nvSpPr>
          <p:spPr>
            <a:xfrm>
              <a:off x="147" y="2380945"/>
              <a:ext cx="10669962" cy="39649"/>
            </a:xfrm>
            <a:prstGeom prst="line">
              <a:avLst/>
            </a:prstGeom>
            <a:ln cap="flat" w="79298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5334991" y="2022939"/>
              <a:ext cx="795311" cy="795311"/>
            </a:xfrm>
            <a:custGeom>
              <a:avLst/>
              <a:gdLst/>
              <a:ahLst/>
              <a:cxnLst/>
              <a:rect r="r" b="b" t="t" l="l"/>
              <a:pathLst>
                <a:path h="795311" w="795311">
                  <a:moveTo>
                    <a:pt x="0" y="0"/>
                  </a:moveTo>
                  <a:lnTo>
                    <a:pt x="795311" y="0"/>
                  </a:lnTo>
                  <a:lnTo>
                    <a:pt x="795311" y="795310"/>
                  </a:lnTo>
                  <a:lnTo>
                    <a:pt x="0" y="795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506120" y="2022939"/>
              <a:ext cx="795311" cy="795311"/>
            </a:xfrm>
            <a:custGeom>
              <a:avLst/>
              <a:gdLst/>
              <a:ahLst/>
              <a:cxnLst/>
              <a:rect r="r" b="b" t="t" l="l"/>
              <a:pathLst>
                <a:path h="795311" w="795311">
                  <a:moveTo>
                    <a:pt x="0" y="0"/>
                  </a:moveTo>
                  <a:lnTo>
                    <a:pt x="795310" y="0"/>
                  </a:lnTo>
                  <a:lnTo>
                    <a:pt x="795310" y="795310"/>
                  </a:lnTo>
                  <a:lnTo>
                    <a:pt x="0" y="795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586264" y="2022939"/>
              <a:ext cx="795311" cy="795311"/>
            </a:xfrm>
            <a:custGeom>
              <a:avLst/>
              <a:gdLst/>
              <a:ahLst/>
              <a:cxnLst/>
              <a:rect r="r" b="b" t="t" l="l"/>
              <a:pathLst>
                <a:path h="795311" w="795311">
                  <a:moveTo>
                    <a:pt x="0" y="0"/>
                  </a:moveTo>
                  <a:lnTo>
                    <a:pt x="795311" y="0"/>
                  </a:lnTo>
                  <a:lnTo>
                    <a:pt x="795311" y="795310"/>
                  </a:lnTo>
                  <a:lnTo>
                    <a:pt x="0" y="795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9416683" y="2022939"/>
              <a:ext cx="795311" cy="795311"/>
            </a:xfrm>
            <a:custGeom>
              <a:avLst/>
              <a:gdLst/>
              <a:ahLst/>
              <a:cxnLst/>
              <a:rect r="r" b="b" t="t" l="l"/>
              <a:pathLst>
                <a:path h="795311" w="795311">
                  <a:moveTo>
                    <a:pt x="0" y="0"/>
                  </a:moveTo>
                  <a:lnTo>
                    <a:pt x="795311" y="0"/>
                  </a:lnTo>
                  <a:lnTo>
                    <a:pt x="795311" y="795310"/>
                  </a:lnTo>
                  <a:lnTo>
                    <a:pt x="0" y="795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677248" y="2022939"/>
              <a:ext cx="795311" cy="795311"/>
            </a:xfrm>
            <a:custGeom>
              <a:avLst/>
              <a:gdLst/>
              <a:ahLst/>
              <a:cxnLst/>
              <a:rect r="r" b="b" t="t" l="l"/>
              <a:pathLst>
                <a:path h="795311" w="795311">
                  <a:moveTo>
                    <a:pt x="0" y="0"/>
                  </a:moveTo>
                  <a:lnTo>
                    <a:pt x="795311" y="0"/>
                  </a:lnTo>
                  <a:lnTo>
                    <a:pt x="795311" y="795310"/>
                  </a:lnTo>
                  <a:lnTo>
                    <a:pt x="0" y="795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8412448" y="2022939"/>
              <a:ext cx="795311" cy="795311"/>
            </a:xfrm>
            <a:custGeom>
              <a:avLst/>
              <a:gdLst/>
              <a:ahLst/>
              <a:cxnLst/>
              <a:rect r="r" b="b" t="t" l="l"/>
              <a:pathLst>
                <a:path h="795311" w="795311">
                  <a:moveTo>
                    <a:pt x="0" y="0"/>
                  </a:moveTo>
                  <a:lnTo>
                    <a:pt x="795311" y="0"/>
                  </a:lnTo>
                  <a:lnTo>
                    <a:pt x="795311" y="795310"/>
                  </a:lnTo>
                  <a:lnTo>
                    <a:pt x="0" y="795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-5400000">
              <a:off x="3034645" y="1775856"/>
              <a:ext cx="560623" cy="4894325"/>
            </a:xfrm>
            <a:custGeom>
              <a:avLst/>
              <a:gdLst/>
              <a:ahLst/>
              <a:cxnLst/>
              <a:rect r="r" b="b" t="t" l="l"/>
              <a:pathLst>
                <a:path h="4894325" w="560623">
                  <a:moveTo>
                    <a:pt x="0" y="0"/>
                  </a:moveTo>
                  <a:lnTo>
                    <a:pt x="560623" y="0"/>
                  </a:lnTo>
                  <a:lnTo>
                    <a:pt x="560623" y="4894325"/>
                  </a:lnTo>
                  <a:lnTo>
                    <a:pt x="0" y="48943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3738252" y="3089240"/>
              <a:ext cx="331046" cy="5362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02"/>
                </a:lnSpc>
                <a:spcBef>
                  <a:spcPct val="0"/>
                </a:spcBef>
              </a:pPr>
              <a:r>
                <a:rPr lang="en-US" sz="243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...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882979" y="3089240"/>
              <a:ext cx="383849" cy="5362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02"/>
                </a:lnSpc>
                <a:spcBef>
                  <a:spcPct val="0"/>
                </a:spcBef>
              </a:pPr>
              <a:r>
                <a:rPr lang="en-US" sz="243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t2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5334991" y="3089240"/>
              <a:ext cx="854257" cy="5362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02"/>
                </a:lnSpc>
                <a:spcBef>
                  <a:spcPct val="0"/>
                </a:spcBef>
              </a:pPr>
              <a:r>
                <a:rPr lang="en-US" sz="243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t512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6556791" y="3089240"/>
              <a:ext cx="854257" cy="5362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02"/>
                </a:lnSpc>
                <a:spcBef>
                  <a:spcPct val="0"/>
                </a:spcBef>
              </a:pPr>
              <a:r>
                <a:rPr lang="en-US" sz="243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t513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8479058" y="3089240"/>
              <a:ext cx="331046" cy="5362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02"/>
                </a:lnSpc>
                <a:spcBef>
                  <a:spcPct val="0"/>
                </a:spcBef>
              </a:pPr>
              <a:r>
                <a:rPr lang="en-US" sz="243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...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9528311" y="3089240"/>
              <a:ext cx="854257" cy="5362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02"/>
                </a:lnSpc>
                <a:spcBef>
                  <a:spcPct val="0"/>
                </a:spcBef>
              </a:pPr>
              <a:r>
                <a:rPr lang="en-US" sz="243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t536</a:t>
              </a:r>
            </a:p>
          </p:txBody>
        </p:sp>
        <p:sp>
          <p:nvSpPr>
            <p:cNvPr name="Freeform 27" id="27"/>
            <p:cNvSpPr/>
            <p:nvPr/>
          </p:nvSpPr>
          <p:spPr>
            <a:xfrm flipH="false" flipV="false" rot="0">
              <a:off x="433388" y="2022939"/>
              <a:ext cx="795311" cy="795311"/>
            </a:xfrm>
            <a:custGeom>
              <a:avLst/>
              <a:gdLst/>
              <a:ahLst/>
              <a:cxnLst/>
              <a:rect r="r" b="b" t="t" l="l"/>
              <a:pathLst>
                <a:path h="795311" w="795311">
                  <a:moveTo>
                    <a:pt x="0" y="0"/>
                  </a:moveTo>
                  <a:lnTo>
                    <a:pt x="795311" y="0"/>
                  </a:lnTo>
                  <a:lnTo>
                    <a:pt x="795311" y="795310"/>
                  </a:lnTo>
                  <a:lnTo>
                    <a:pt x="0" y="795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5317441">
              <a:off x="2871524" y="-388856"/>
              <a:ext cx="829893" cy="4519217"/>
            </a:xfrm>
            <a:custGeom>
              <a:avLst/>
              <a:gdLst/>
              <a:ahLst/>
              <a:cxnLst/>
              <a:rect r="r" b="b" t="t" l="l"/>
              <a:pathLst>
                <a:path h="4519217" w="829893">
                  <a:moveTo>
                    <a:pt x="0" y="0"/>
                  </a:moveTo>
                  <a:lnTo>
                    <a:pt x="829893" y="0"/>
                  </a:lnTo>
                  <a:lnTo>
                    <a:pt x="829893" y="4519217"/>
                  </a:lnTo>
                  <a:lnTo>
                    <a:pt x="0" y="45192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5317441">
              <a:off x="8112739" y="10298"/>
              <a:ext cx="683294" cy="3720909"/>
            </a:xfrm>
            <a:custGeom>
              <a:avLst/>
              <a:gdLst/>
              <a:ahLst/>
              <a:cxnLst/>
              <a:rect r="r" b="b" t="t" l="l"/>
              <a:pathLst>
                <a:path h="3720909" w="683294">
                  <a:moveTo>
                    <a:pt x="0" y="0"/>
                  </a:moveTo>
                  <a:lnTo>
                    <a:pt x="683294" y="0"/>
                  </a:lnTo>
                  <a:lnTo>
                    <a:pt x="683294" y="3720909"/>
                  </a:lnTo>
                  <a:lnTo>
                    <a:pt x="0" y="37209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-5400000">
              <a:off x="8328814" y="2200158"/>
              <a:ext cx="450845" cy="3935944"/>
            </a:xfrm>
            <a:custGeom>
              <a:avLst/>
              <a:gdLst/>
              <a:ahLst/>
              <a:cxnLst/>
              <a:rect r="r" b="b" t="t" l="l"/>
              <a:pathLst>
                <a:path h="3935944" w="450845">
                  <a:moveTo>
                    <a:pt x="0" y="0"/>
                  </a:moveTo>
                  <a:lnTo>
                    <a:pt x="450845" y="0"/>
                  </a:lnTo>
                  <a:lnTo>
                    <a:pt x="450845" y="3935944"/>
                  </a:lnTo>
                  <a:lnTo>
                    <a:pt x="0" y="3935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 rot="0">
              <a:off x="6442328" y="943236"/>
              <a:ext cx="3940240" cy="5362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02"/>
                </a:lnSpc>
                <a:spcBef>
                  <a:spcPct val="0"/>
                </a:spcBef>
              </a:pPr>
              <a:r>
                <a:rPr lang="en-US" sz="2430">
                  <a:solidFill>
                    <a:srgbClr val="FF751F"/>
                  </a:solidFill>
                  <a:latin typeface="Noto Sans"/>
                  <a:ea typeface="Noto Sans"/>
                  <a:cs typeface="Noto Sans"/>
                  <a:sym typeface="Noto Sans"/>
                </a:rPr>
                <a:t>24 timestep (output)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1344320" y="865390"/>
              <a:ext cx="3884302" cy="5362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02"/>
                </a:lnSpc>
                <a:spcBef>
                  <a:spcPct val="0"/>
                </a:spcBef>
              </a:pPr>
              <a:r>
                <a:rPr lang="en-US" sz="2430">
                  <a:solidFill>
                    <a:srgbClr val="38B6FF"/>
                  </a:solidFill>
                  <a:latin typeface="Noto Sans"/>
                  <a:ea typeface="Noto Sans"/>
                  <a:cs typeface="Noto Sans"/>
                  <a:sym typeface="Noto Sans"/>
                </a:rPr>
                <a:t>512 timestep (input)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639119" y="3089240"/>
              <a:ext cx="383849" cy="5362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02"/>
                </a:lnSpc>
                <a:spcBef>
                  <a:spcPct val="0"/>
                </a:spcBef>
              </a:pPr>
              <a:r>
                <a:rPr lang="en-US" sz="243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t1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1872893" y="4763372"/>
              <a:ext cx="2827156" cy="6849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70"/>
                </a:lnSpc>
                <a:spcBef>
                  <a:spcPct val="0"/>
                </a:spcBef>
              </a:pPr>
              <a:r>
                <a:rPr lang="en-US" sz="3122">
                  <a:solidFill>
                    <a:srgbClr val="38B6FF"/>
                  </a:solidFill>
                  <a:latin typeface="Noto Sans"/>
                  <a:ea typeface="Noto Sans"/>
                  <a:cs typeface="Noto Sans"/>
                  <a:sym typeface="Noto Sans"/>
                </a:rPr>
                <a:t>model nhìn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6927148" y="4772897"/>
              <a:ext cx="3434866" cy="615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52"/>
                </a:lnSpc>
                <a:spcBef>
                  <a:spcPct val="0"/>
                </a:spcBef>
              </a:pPr>
              <a:r>
                <a:rPr lang="en-US" sz="2823">
                  <a:solidFill>
                    <a:srgbClr val="FF751F"/>
                  </a:solidFill>
                  <a:latin typeface="Noto Sans"/>
                  <a:ea typeface="Noto Sans"/>
                  <a:cs typeface="Noto Sans"/>
                  <a:sym typeface="Noto Sans"/>
                </a:rPr>
                <a:t>model dự đoán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331833" y="-57150"/>
              <a:ext cx="276923" cy="6849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70"/>
                </a:lnSpc>
                <a:spcBef>
                  <a:spcPct val="0"/>
                </a:spcBef>
              </a:pPr>
              <a:r>
                <a:rPr lang="en-US" sz="3122">
                  <a:solidFill>
                    <a:srgbClr val="38B6FF"/>
                  </a:solidFill>
                  <a:latin typeface="Noto Sans"/>
                  <a:ea typeface="Noto Sans"/>
                  <a:cs typeface="Noto Sans"/>
                  <a:sym typeface="Noto Sans"/>
                </a:rPr>
                <a:t>L    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608756" y="133319"/>
              <a:ext cx="414212" cy="6186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09"/>
                </a:lnSpc>
                <a:spcBef>
                  <a:spcPct val="0"/>
                </a:spcBef>
              </a:pPr>
              <a:r>
                <a:rPr lang="en-US" sz="2792">
                  <a:solidFill>
                    <a:srgbClr val="38B6FF"/>
                  </a:solidFill>
                  <a:latin typeface="Noto Sans"/>
                  <a:ea typeface="Noto Sans"/>
                  <a:cs typeface="Noto Sans"/>
                  <a:sym typeface="Noto Sans"/>
                </a:rPr>
                <a:t>in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1153860" y="148665"/>
              <a:ext cx="921044" cy="4676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90"/>
                </a:lnSpc>
                <a:spcBef>
                  <a:spcPct val="0"/>
                </a:spcBef>
              </a:pPr>
              <a:r>
                <a:rPr lang="en-US" sz="2136">
                  <a:solidFill>
                    <a:srgbClr val="38B6FF"/>
                  </a:solidFill>
                  <a:latin typeface="Noto Sans"/>
                  <a:ea typeface="Noto Sans"/>
                  <a:cs typeface="Noto Sans"/>
                  <a:sym typeface="Noto Sans"/>
                </a:rPr>
                <a:t>= 512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7509407" y="-31623"/>
              <a:ext cx="276923" cy="6849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70"/>
                </a:lnSpc>
                <a:spcBef>
                  <a:spcPct val="0"/>
                </a:spcBef>
              </a:pPr>
              <a:r>
                <a:rPr lang="en-US" sz="3122">
                  <a:solidFill>
                    <a:srgbClr val="FF751F"/>
                  </a:solidFill>
                  <a:latin typeface="Noto Sans"/>
                  <a:ea typeface="Noto Sans"/>
                  <a:cs typeface="Noto Sans"/>
                  <a:sym typeface="Noto Sans"/>
                </a:rPr>
                <a:t>L    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7786330" y="158846"/>
              <a:ext cx="781773" cy="6186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09"/>
                </a:lnSpc>
                <a:spcBef>
                  <a:spcPct val="0"/>
                </a:spcBef>
              </a:pPr>
              <a:r>
                <a:rPr lang="en-US" sz="2792">
                  <a:solidFill>
                    <a:srgbClr val="FF751F"/>
                  </a:solidFill>
                  <a:latin typeface="Noto Sans"/>
                  <a:ea typeface="Noto Sans"/>
                  <a:cs typeface="Noto Sans"/>
                  <a:sym typeface="Noto Sans"/>
                </a:rPr>
                <a:t>out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8706874" y="139140"/>
              <a:ext cx="776692" cy="514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52"/>
                </a:lnSpc>
                <a:spcBef>
                  <a:spcPct val="0"/>
                </a:spcBef>
              </a:pPr>
              <a:r>
                <a:rPr lang="en-US" sz="2322">
                  <a:solidFill>
                    <a:srgbClr val="FF751F"/>
                  </a:solidFill>
                  <a:latin typeface="Noto Sans"/>
                  <a:ea typeface="Noto Sans"/>
                  <a:cs typeface="Noto Sans"/>
                  <a:sym typeface="Noto Sans"/>
                </a:rPr>
                <a:t>= 24</a:t>
              </a:r>
            </a:p>
          </p:txBody>
        </p:sp>
      </p:grpSp>
      <p:sp>
        <p:nvSpPr>
          <p:cNvPr name="AutoShape 42" id="42"/>
          <p:cNvSpPr/>
          <p:nvPr/>
        </p:nvSpPr>
        <p:spPr>
          <a:xfrm>
            <a:off x="4698206" y="2967817"/>
            <a:ext cx="266306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3" id="43"/>
          <p:cNvSpPr/>
          <p:nvPr/>
        </p:nvSpPr>
        <p:spPr>
          <a:xfrm>
            <a:off x="10553927" y="2979315"/>
            <a:ext cx="266306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10320" y="2421696"/>
            <a:ext cx="3242115" cy="1083950"/>
            <a:chOff x="0" y="0"/>
            <a:chExt cx="853890" cy="2854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3891" cy="285485"/>
            </a:xfrm>
            <a:custGeom>
              <a:avLst/>
              <a:gdLst/>
              <a:ahLst/>
              <a:cxnLst/>
              <a:rect r="r" b="b" t="t" l="l"/>
              <a:pathLst>
                <a:path h="285485" w="853891">
                  <a:moveTo>
                    <a:pt x="31043" y="0"/>
                  </a:moveTo>
                  <a:lnTo>
                    <a:pt x="822848" y="0"/>
                  </a:lnTo>
                  <a:cubicBezTo>
                    <a:pt x="839992" y="0"/>
                    <a:pt x="853891" y="13898"/>
                    <a:pt x="853891" y="31043"/>
                  </a:cubicBezTo>
                  <a:lnTo>
                    <a:pt x="853891" y="254442"/>
                  </a:lnTo>
                  <a:cubicBezTo>
                    <a:pt x="853891" y="262675"/>
                    <a:pt x="850620" y="270571"/>
                    <a:pt x="844798" y="276393"/>
                  </a:cubicBezTo>
                  <a:cubicBezTo>
                    <a:pt x="838977" y="282214"/>
                    <a:pt x="831081" y="285485"/>
                    <a:pt x="822848" y="285485"/>
                  </a:cubicBezTo>
                  <a:lnTo>
                    <a:pt x="31043" y="285485"/>
                  </a:lnTo>
                  <a:cubicBezTo>
                    <a:pt x="22810" y="285485"/>
                    <a:pt x="14914" y="282214"/>
                    <a:pt x="9092" y="276393"/>
                  </a:cubicBezTo>
                  <a:cubicBezTo>
                    <a:pt x="3271" y="270571"/>
                    <a:pt x="0" y="262675"/>
                    <a:pt x="0" y="254442"/>
                  </a:cubicBezTo>
                  <a:lnTo>
                    <a:pt x="0" y="31043"/>
                  </a:lnTo>
                  <a:cubicBezTo>
                    <a:pt x="0" y="22810"/>
                    <a:pt x="3271" y="14914"/>
                    <a:pt x="9092" y="9092"/>
                  </a:cubicBezTo>
                  <a:cubicBezTo>
                    <a:pt x="14914" y="3271"/>
                    <a:pt x="22810" y="0"/>
                    <a:pt x="31043" y="0"/>
                  </a:cubicBezTo>
                  <a:close/>
                </a:path>
              </a:pathLst>
            </a:custGeom>
            <a:solidFill>
              <a:srgbClr val="A6A6A6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53890" cy="333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Instance Normalize </a:t>
              </a:r>
            </a:p>
          </p:txBody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290154" y="3464220"/>
            <a:ext cx="1707690" cy="891794"/>
          </a:xfrm>
          <a:prstGeom prst="rect">
            <a:avLst/>
          </a:prstGeom>
        </p:spPr>
      </p:pic>
      <p:sp>
        <p:nvSpPr>
          <p:cNvPr name="Freeform 6" id="6"/>
          <p:cNvSpPr/>
          <p:nvPr/>
        </p:nvSpPr>
        <p:spPr>
          <a:xfrm flipH="false" flipV="false" rot="0">
            <a:off x="573695" y="6332345"/>
            <a:ext cx="7354019" cy="1519292"/>
          </a:xfrm>
          <a:custGeom>
            <a:avLst/>
            <a:gdLst/>
            <a:ahLst/>
            <a:cxnLst/>
            <a:rect r="r" b="b" t="t" l="l"/>
            <a:pathLst>
              <a:path h="1519292" w="7354019">
                <a:moveTo>
                  <a:pt x="0" y="0"/>
                </a:moveTo>
                <a:lnTo>
                  <a:pt x="7354018" y="0"/>
                </a:lnTo>
                <a:lnTo>
                  <a:pt x="7354018" y="1519291"/>
                </a:lnTo>
                <a:lnTo>
                  <a:pt x="0" y="15192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144000" y="6363835"/>
            <a:ext cx="8313505" cy="2975604"/>
            <a:chOff x="0" y="0"/>
            <a:chExt cx="11084674" cy="3967471"/>
          </a:xfrm>
        </p:grpSpPr>
        <p:sp>
          <p:nvSpPr>
            <p:cNvPr name="AutoShape 8" id="8"/>
            <p:cNvSpPr/>
            <p:nvPr/>
          </p:nvSpPr>
          <p:spPr>
            <a:xfrm>
              <a:off x="5553483" y="1529214"/>
              <a:ext cx="4392924" cy="0"/>
            </a:xfrm>
            <a:prstGeom prst="line">
              <a:avLst/>
            </a:prstGeom>
            <a:ln cap="flat" w="8375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8404582" y="901885"/>
              <a:ext cx="1130478" cy="1130478"/>
            </a:xfrm>
            <a:custGeom>
              <a:avLst/>
              <a:gdLst/>
              <a:ahLst/>
              <a:cxnLst/>
              <a:rect r="r" b="b" t="t" l="l"/>
              <a:pathLst>
                <a:path h="1130478" w="1130478">
                  <a:moveTo>
                    <a:pt x="0" y="0"/>
                  </a:moveTo>
                  <a:lnTo>
                    <a:pt x="1130478" y="0"/>
                  </a:lnTo>
                  <a:lnTo>
                    <a:pt x="1130478" y="1130478"/>
                  </a:lnTo>
                  <a:lnTo>
                    <a:pt x="0" y="11304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10" id="10"/>
            <p:cNvSpPr/>
            <p:nvPr/>
          </p:nvSpPr>
          <p:spPr>
            <a:xfrm>
              <a:off x="200485" y="1485366"/>
              <a:ext cx="4381618" cy="0"/>
            </a:xfrm>
            <a:prstGeom prst="line">
              <a:avLst/>
            </a:prstGeom>
            <a:ln cap="flat" w="8375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202842" y="1041490"/>
              <a:ext cx="887753" cy="887753"/>
            </a:xfrm>
            <a:custGeom>
              <a:avLst/>
              <a:gdLst/>
              <a:ahLst/>
              <a:cxnLst/>
              <a:rect r="r" b="b" t="t" l="l"/>
              <a:pathLst>
                <a:path h="887753" w="887753">
                  <a:moveTo>
                    <a:pt x="0" y="0"/>
                  </a:moveTo>
                  <a:lnTo>
                    <a:pt x="887753" y="0"/>
                  </a:lnTo>
                  <a:lnTo>
                    <a:pt x="887753" y="887753"/>
                  </a:lnTo>
                  <a:lnTo>
                    <a:pt x="0" y="887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739255" y="1041490"/>
              <a:ext cx="887753" cy="887753"/>
            </a:xfrm>
            <a:custGeom>
              <a:avLst/>
              <a:gdLst/>
              <a:ahLst/>
              <a:cxnLst/>
              <a:rect r="r" b="b" t="t" l="l"/>
              <a:pathLst>
                <a:path h="887753" w="887753">
                  <a:moveTo>
                    <a:pt x="0" y="0"/>
                  </a:moveTo>
                  <a:lnTo>
                    <a:pt x="887753" y="0"/>
                  </a:lnTo>
                  <a:lnTo>
                    <a:pt x="887753" y="887753"/>
                  </a:lnTo>
                  <a:lnTo>
                    <a:pt x="0" y="887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431273" y="1041490"/>
              <a:ext cx="887753" cy="887753"/>
            </a:xfrm>
            <a:custGeom>
              <a:avLst/>
              <a:gdLst/>
              <a:ahLst/>
              <a:cxnLst/>
              <a:rect r="r" b="b" t="t" l="l"/>
              <a:pathLst>
                <a:path h="887753" w="887753">
                  <a:moveTo>
                    <a:pt x="0" y="0"/>
                  </a:moveTo>
                  <a:lnTo>
                    <a:pt x="887753" y="0"/>
                  </a:lnTo>
                  <a:lnTo>
                    <a:pt x="887753" y="887753"/>
                  </a:lnTo>
                  <a:lnTo>
                    <a:pt x="0" y="887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7229502" y="997642"/>
              <a:ext cx="887753" cy="887753"/>
            </a:xfrm>
            <a:custGeom>
              <a:avLst/>
              <a:gdLst/>
              <a:ahLst/>
              <a:cxnLst/>
              <a:rect r="r" b="b" t="t" l="l"/>
              <a:pathLst>
                <a:path h="887753" w="887753">
                  <a:moveTo>
                    <a:pt x="0" y="0"/>
                  </a:moveTo>
                  <a:lnTo>
                    <a:pt x="887753" y="0"/>
                  </a:lnTo>
                  <a:lnTo>
                    <a:pt x="887753" y="887753"/>
                  </a:lnTo>
                  <a:lnTo>
                    <a:pt x="0" y="887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5997562" y="1041490"/>
              <a:ext cx="887753" cy="887753"/>
            </a:xfrm>
            <a:custGeom>
              <a:avLst/>
              <a:gdLst/>
              <a:ahLst/>
              <a:cxnLst/>
              <a:rect r="r" b="b" t="t" l="l"/>
              <a:pathLst>
                <a:path h="887753" w="887753">
                  <a:moveTo>
                    <a:pt x="0" y="0"/>
                  </a:moveTo>
                  <a:lnTo>
                    <a:pt x="887753" y="0"/>
                  </a:lnTo>
                  <a:lnTo>
                    <a:pt x="887753" y="887753"/>
                  </a:lnTo>
                  <a:lnTo>
                    <a:pt x="0" y="887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5400000">
              <a:off x="1808127" y="-1786203"/>
              <a:ext cx="1119317" cy="4735571"/>
            </a:xfrm>
            <a:custGeom>
              <a:avLst/>
              <a:gdLst/>
              <a:ahLst/>
              <a:cxnLst/>
              <a:rect r="r" b="b" t="t" l="l"/>
              <a:pathLst>
                <a:path h="4735571" w="1119317">
                  <a:moveTo>
                    <a:pt x="0" y="0"/>
                  </a:moveTo>
                  <a:lnTo>
                    <a:pt x="1119317" y="0"/>
                  </a:lnTo>
                  <a:lnTo>
                    <a:pt x="1119317" y="4735571"/>
                  </a:lnTo>
                  <a:lnTo>
                    <a:pt x="0" y="4735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5400000">
              <a:off x="7113720" y="-1808127"/>
              <a:ext cx="1119317" cy="4735571"/>
            </a:xfrm>
            <a:custGeom>
              <a:avLst/>
              <a:gdLst/>
              <a:ahLst/>
              <a:cxnLst/>
              <a:rect r="r" b="b" t="t" l="l"/>
              <a:pathLst>
                <a:path h="4735571" w="1119317">
                  <a:moveTo>
                    <a:pt x="0" y="0"/>
                  </a:moveTo>
                  <a:lnTo>
                    <a:pt x="1119317" y="0"/>
                  </a:lnTo>
                  <a:lnTo>
                    <a:pt x="1119317" y="4735571"/>
                  </a:lnTo>
                  <a:lnTo>
                    <a:pt x="0" y="4735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335534" y="2993024"/>
              <a:ext cx="4051475" cy="583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25"/>
                </a:lnSpc>
                <a:spcBef>
                  <a:spcPct val="0"/>
                </a:spcBef>
              </a:pPr>
              <a:r>
                <a:rPr lang="en-US" sz="2589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num_patch = [</a:t>
              </a:r>
            </a:p>
          </p:txBody>
        </p:sp>
        <p:sp>
          <p:nvSpPr>
            <p:cNvPr name="AutoShape 19" id="19"/>
            <p:cNvSpPr/>
            <p:nvPr/>
          </p:nvSpPr>
          <p:spPr>
            <a:xfrm flipV="true">
              <a:off x="4086138" y="3341643"/>
              <a:ext cx="3242740" cy="27086"/>
            </a:xfrm>
            <a:prstGeom prst="line">
              <a:avLst/>
            </a:prstGeom>
            <a:ln cap="flat" w="5583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0" id="20"/>
            <p:cNvSpPr txBox="true"/>
            <p:nvPr/>
          </p:nvSpPr>
          <p:spPr>
            <a:xfrm rot="0">
              <a:off x="4275179" y="2695018"/>
              <a:ext cx="189182" cy="4701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85"/>
                </a:lnSpc>
                <a:spcBef>
                  <a:spcPct val="0"/>
                </a:spcBef>
              </a:pPr>
              <a:r>
                <a:rPr lang="en-US" sz="2132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L    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4464360" y="2825138"/>
              <a:ext cx="282971" cy="4119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70"/>
                </a:lnSpc>
                <a:spcBef>
                  <a:spcPct val="0"/>
                </a:spcBef>
              </a:pPr>
              <a:r>
                <a:rPr lang="en-US" sz="1907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in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5295917" y="2779875"/>
              <a:ext cx="2032961" cy="4701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85"/>
                </a:lnSpc>
                <a:spcBef>
                  <a:spcPct val="0"/>
                </a:spcBef>
              </a:pPr>
              <a:r>
                <a:rPr lang="en-US" sz="2132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 patch_size  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4953897" y="2741190"/>
              <a:ext cx="259590" cy="4701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85"/>
                </a:lnSpc>
                <a:spcBef>
                  <a:spcPct val="0"/>
                </a:spcBef>
              </a:pPr>
              <a:r>
                <a:rPr lang="en-US" sz="2132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-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5083692" y="3497352"/>
              <a:ext cx="971301" cy="4701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85"/>
                </a:lnSpc>
                <a:spcBef>
                  <a:spcPct val="0"/>
                </a:spcBef>
              </a:pPr>
              <a:r>
                <a:rPr lang="en-US" sz="2132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stride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7570267" y="2944440"/>
              <a:ext cx="2470896" cy="583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25"/>
                </a:lnSpc>
                <a:spcBef>
                  <a:spcPct val="0"/>
                </a:spcBef>
              </a:pPr>
              <a:r>
                <a:rPr lang="en-US" sz="2589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] + 1 = 63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602471" y="280558"/>
              <a:ext cx="545358" cy="7609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33"/>
                </a:lnSpc>
                <a:spcBef>
                  <a:spcPct val="0"/>
                </a:spcBef>
              </a:pPr>
              <a:r>
                <a:rPr lang="en-US" sz="3452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t1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3239679" y="280558"/>
              <a:ext cx="879355" cy="7609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33"/>
                </a:lnSpc>
                <a:spcBef>
                  <a:spcPct val="0"/>
                </a:spcBef>
              </a:pPr>
              <a:r>
                <a:rPr lang="en-US" sz="3452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t16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897448" y="167779"/>
              <a:ext cx="470337" cy="7609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33"/>
                </a:lnSpc>
                <a:spcBef>
                  <a:spcPct val="0"/>
                </a:spcBef>
              </a:pPr>
              <a:r>
                <a:rPr lang="en-US" sz="3452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...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5925028" y="236711"/>
              <a:ext cx="879355" cy="7609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33"/>
                </a:lnSpc>
                <a:spcBef>
                  <a:spcPct val="0"/>
                </a:spcBef>
              </a:pPr>
              <a:r>
                <a:rPr lang="en-US" sz="3452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t9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8610377" y="280558"/>
              <a:ext cx="879355" cy="7609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33"/>
                </a:lnSpc>
                <a:spcBef>
                  <a:spcPct val="0"/>
                </a:spcBef>
              </a:pPr>
              <a:r>
                <a:rPr lang="en-US" sz="3452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t24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7428275" y="236711"/>
              <a:ext cx="470337" cy="7609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33"/>
                </a:lnSpc>
                <a:spcBef>
                  <a:spcPct val="0"/>
                </a:spcBef>
              </a:pPr>
              <a:r>
                <a:rPr lang="en-US" sz="3452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...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1319026" y="1862568"/>
              <a:ext cx="2026594" cy="7609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33"/>
                </a:lnSpc>
                <a:spcBef>
                  <a:spcPct val="0"/>
                </a:spcBef>
              </a:pPr>
              <a:r>
                <a:rPr lang="en-US" sz="3452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patch 1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6885315" y="1862568"/>
              <a:ext cx="2026594" cy="7609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33"/>
                </a:lnSpc>
                <a:spcBef>
                  <a:spcPct val="0"/>
                </a:spcBef>
              </a:pPr>
              <a:r>
                <a:rPr lang="en-US" sz="3452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patch 2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10614337" y="1818720"/>
              <a:ext cx="470337" cy="7609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33"/>
                </a:lnSpc>
                <a:spcBef>
                  <a:spcPct val="0"/>
                </a:spcBef>
              </a:pPr>
              <a:r>
                <a:rPr lang="en-US" sz="3452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...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10614337" y="802262"/>
              <a:ext cx="470337" cy="7609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33"/>
                </a:lnSpc>
                <a:spcBef>
                  <a:spcPct val="0"/>
                </a:spcBef>
              </a:pPr>
              <a:r>
                <a:rPr lang="en-US" sz="3452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...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431017" y="534250"/>
            <a:ext cx="4516240" cy="680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6"/>
              </a:lnSpc>
            </a:pPr>
            <a:r>
              <a:rPr lang="en-US" sz="3997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Tiền xử lý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715034" y="2421696"/>
            <a:ext cx="3232224" cy="1113624"/>
            <a:chOff x="0" y="0"/>
            <a:chExt cx="851285" cy="2933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51285" cy="293300"/>
            </a:xfrm>
            <a:custGeom>
              <a:avLst/>
              <a:gdLst/>
              <a:ahLst/>
              <a:cxnLst/>
              <a:rect r="r" b="b" t="t" l="l"/>
              <a:pathLst>
                <a:path h="293300" w="851285">
                  <a:moveTo>
                    <a:pt x="31138" y="0"/>
                  </a:moveTo>
                  <a:lnTo>
                    <a:pt x="820147" y="0"/>
                  </a:lnTo>
                  <a:cubicBezTo>
                    <a:pt x="837344" y="0"/>
                    <a:pt x="851285" y="13941"/>
                    <a:pt x="851285" y="31138"/>
                  </a:cubicBezTo>
                  <a:lnTo>
                    <a:pt x="851285" y="262162"/>
                  </a:lnTo>
                  <a:cubicBezTo>
                    <a:pt x="851285" y="279359"/>
                    <a:pt x="837344" y="293300"/>
                    <a:pt x="820147" y="293300"/>
                  </a:cubicBezTo>
                  <a:lnTo>
                    <a:pt x="31138" y="293300"/>
                  </a:lnTo>
                  <a:cubicBezTo>
                    <a:pt x="13941" y="293300"/>
                    <a:pt x="0" y="279359"/>
                    <a:pt x="0" y="262162"/>
                  </a:cubicBezTo>
                  <a:lnTo>
                    <a:pt x="0" y="31138"/>
                  </a:lnTo>
                  <a:cubicBezTo>
                    <a:pt x="0" y="13941"/>
                    <a:pt x="13941" y="0"/>
                    <a:pt x="31138" y="0"/>
                  </a:cubicBezTo>
                  <a:close/>
                </a:path>
              </a:pathLst>
            </a:custGeom>
            <a:solidFill>
              <a:srgbClr val="0097B2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851285" cy="340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Sliding Window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515498" y="2406859"/>
            <a:ext cx="3232224" cy="1113624"/>
            <a:chOff x="0" y="0"/>
            <a:chExt cx="851285" cy="2933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51285" cy="293300"/>
            </a:xfrm>
            <a:custGeom>
              <a:avLst/>
              <a:gdLst/>
              <a:ahLst/>
              <a:cxnLst/>
              <a:rect r="r" b="b" t="t" l="l"/>
              <a:pathLst>
                <a:path h="293300" w="851285">
                  <a:moveTo>
                    <a:pt x="31138" y="0"/>
                  </a:moveTo>
                  <a:lnTo>
                    <a:pt x="820147" y="0"/>
                  </a:lnTo>
                  <a:cubicBezTo>
                    <a:pt x="837344" y="0"/>
                    <a:pt x="851285" y="13941"/>
                    <a:pt x="851285" y="31138"/>
                  </a:cubicBezTo>
                  <a:lnTo>
                    <a:pt x="851285" y="262162"/>
                  </a:lnTo>
                  <a:cubicBezTo>
                    <a:pt x="851285" y="279359"/>
                    <a:pt x="837344" y="293300"/>
                    <a:pt x="820147" y="293300"/>
                  </a:cubicBezTo>
                  <a:lnTo>
                    <a:pt x="31138" y="293300"/>
                  </a:lnTo>
                  <a:cubicBezTo>
                    <a:pt x="13941" y="293300"/>
                    <a:pt x="0" y="279359"/>
                    <a:pt x="0" y="262162"/>
                  </a:cubicBezTo>
                  <a:lnTo>
                    <a:pt x="0" y="31138"/>
                  </a:lnTo>
                  <a:cubicBezTo>
                    <a:pt x="0" y="13941"/>
                    <a:pt x="13941" y="0"/>
                    <a:pt x="31138" y="0"/>
                  </a:cubicBezTo>
                  <a:close/>
                </a:path>
              </a:pathLst>
            </a:custGeom>
            <a:solidFill>
              <a:srgbClr val="E2A9F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851285" cy="340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Patching</a:t>
              </a:r>
            </a:p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patch_size = 16, stride = 8</a:t>
              </a:r>
            </a:p>
          </p:txBody>
        </p:sp>
      </p:grpSp>
      <p:sp>
        <p:nvSpPr>
          <p:cNvPr name="AutoShape 43" id="43"/>
          <p:cNvSpPr/>
          <p:nvPr/>
        </p:nvSpPr>
        <p:spPr>
          <a:xfrm>
            <a:off x="4947258" y="2978508"/>
            <a:ext cx="266306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4" id="44"/>
          <p:cNvSpPr/>
          <p:nvPr/>
        </p:nvSpPr>
        <p:spPr>
          <a:xfrm>
            <a:off x="10852436" y="2997558"/>
            <a:ext cx="266306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1017" y="534250"/>
            <a:ext cx="7434209" cy="680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6"/>
              </a:lnSpc>
            </a:pPr>
            <a:r>
              <a:rPr lang="en-US" sz="3997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Cơ chế hoạt động của PAttn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646266" y="3133510"/>
            <a:ext cx="3232224" cy="1250777"/>
            <a:chOff x="0" y="0"/>
            <a:chExt cx="851285" cy="3294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51285" cy="329423"/>
            </a:xfrm>
            <a:custGeom>
              <a:avLst/>
              <a:gdLst/>
              <a:ahLst/>
              <a:cxnLst/>
              <a:rect r="r" b="b" t="t" l="l"/>
              <a:pathLst>
                <a:path h="329423" w="851285">
                  <a:moveTo>
                    <a:pt x="31138" y="0"/>
                  </a:moveTo>
                  <a:lnTo>
                    <a:pt x="820147" y="0"/>
                  </a:lnTo>
                  <a:cubicBezTo>
                    <a:pt x="837344" y="0"/>
                    <a:pt x="851285" y="13941"/>
                    <a:pt x="851285" y="31138"/>
                  </a:cubicBezTo>
                  <a:lnTo>
                    <a:pt x="851285" y="298285"/>
                  </a:lnTo>
                  <a:cubicBezTo>
                    <a:pt x="851285" y="315482"/>
                    <a:pt x="837344" y="329423"/>
                    <a:pt x="820147" y="329423"/>
                  </a:cubicBezTo>
                  <a:lnTo>
                    <a:pt x="31138" y="329423"/>
                  </a:lnTo>
                  <a:cubicBezTo>
                    <a:pt x="13941" y="329423"/>
                    <a:pt x="0" y="315482"/>
                    <a:pt x="0" y="298285"/>
                  </a:cubicBezTo>
                  <a:lnTo>
                    <a:pt x="0" y="31138"/>
                  </a:lnTo>
                  <a:cubicBezTo>
                    <a:pt x="0" y="13941"/>
                    <a:pt x="13941" y="0"/>
                    <a:pt x="31138" y="0"/>
                  </a:cubicBezTo>
                  <a:close/>
                </a:path>
              </a:pathLst>
            </a:custGeom>
            <a:solidFill>
              <a:srgbClr val="FDFF95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851285" cy="3770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Multi-Head Attention</a:t>
              </a:r>
            </a:p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4 Heads</a:t>
              </a:r>
            </a:p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(B,7,63,D)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265456" y="3152560"/>
            <a:ext cx="3232224" cy="1250777"/>
            <a:chOff x="0" y="0"/>
            <a:chExt cx="851285" cy="3294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51285" cy="329423"/>
            </a:xfrm>
            <a:custGeom>
              <a:avLst/>
              <a:gdLst/>
              <a:ahLst/>
              <a:cxnLst/>
              <a:rect r="r" b="b" t="t" l="l"/>
              <a:pathLst>
                <a:path h="329423" w="851285">
                  <a:moveTo>
                    <a:pt x="31138" y="0"/>
                  </a:moveTo>
                  <a:lnTo>
                    <a:pt x="820147" y="0"/>
                  </a:lnTo>
                  <a:cubicBezTo>
                    <a:pt x="837344" y="0"/>
                    <a:pt x="851285" y="13941"/>
                    <a:pt x="851285" y="31138"/>
                  </a:cubicBezTo>
                  <a:lnTo>
                    <a:pt x="851285" y="298285"/>
                  </a:lnTo>
                  <a:cubicBezTo>
                    <a:pt x="851285" y="315482"/>
                    <a:pt x="837344" y="329423"/>
                    <a:pt x="820147" y="329423"/>
                  </a:cubicBezTo>
                  <a:lnTo>
                    <a:pt x="31138" y="329423"/>
                  </a:lnTo>
                  <a:cubicBezTo>
                    <a:pt x="13941" y="329423"/>
                    <a:pt x="0" y="315482"/>
                    <a:pt x="0" y="298285"/>
                  </a:cubicBezTo>
                  <a:lnTo>
                    <a:pt x="0" y="31138"/>
                  </a:lnTo>
                  <a:cubicBezTo>
                    <a:pt x="0" y="13941"/>
                    <a:pt x="13941" y="0"/>
                    <a:pt x="31138" y="0"/>
                  </a:cubicBezTo>
                  <a:close/>
                </a:path>
              </a:pathLst>
            </a:custGeom>
            <a:solidFill>
              <a:srgbClr val="9BD09E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51285" cy="3770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Patch Embedding</a:t>
              </a:r>
            </a:p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Linear(d_model)</a:t>
              </a:r>
            </a:p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(B,7,63,D)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5898" y="3171610"/>
            <a:ext cx="3232224" cy="1113624"/>
            <a:chOff x="0" y="0"/>
            <a:chExt cx="851285" cy="293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51285" cy="293300"/>
            </a:xfrm>
            <a:custGeom>
              <a:avLst/>
              <a:gdLst/>
              <a:ahLst/>
              <a:cxnLst/>
              <a:rect r="r" b="b" t="t" l="l"/>
              <a:pathLst>
                <a:path h="293300" w="851285">
                  <a:moveTo>
                    <a:pt x="31138" y="0"/>
                  </a:moveTo>
                  <a:lnTo>
                    <a:pt x="820147" y="0"/>
                  </a:lnTo>
                  <a:cubicBezTo>
                    <a:pt x="837344" y="0"/>
                    <a:pt x="851285" y="13941"/>
                    <a:pt x="851285" y="31138"/>
                  </a:cubicBezTo>
                  <a:lnTo>
                    <a:pt x="851285" y="262162"/>
                  </a:lnTo>
                  <a:cubicBezTo>
                    <a:pt x="851285" y="279359"/>
                    <a:pt x="837344" y="293300"/>
                    <a:pt x="820147" y="293300"/>
                  </a:cubicBezTo>
                  <a:lnTo>
                    <a:pt x="31138" y="293300"/>
                  </a:lnTo>
                  <a:cubicBezTo>
                    <a:pt x="13941" y="293300"/>
                    <a:pt x="0" y="279359"/>
                    <a:pt x="0" y="262162"/>
                  </a:cubicBezTo>
                  <a:lnTo>
                    <a:pt x="0" y="31138"/>
                  </a:lnTo>
                  <a:cubicBezTo>
                    <a:pt x="0" y="13941"/>
                    <a:pt x="13941" y="0"/>
                    <a:pt x="31138" y="0"/>
                  </a:cubicBezTo>
                  <a:close/>
                </a:path>
              </a:pathLst>
            </a:custGeom>
            <a:solidFill>
              <a:srgbClr val="E2A9F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51285" cy="340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Patching</a:t>
              </a:r>
            </a:p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(B,7,63,16)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995824" y="3114460"/>
            <a:ext cx="3232224" cy="1250777"/>
            <a:chOff x="0" y="0"/>
            <a:chExt cx="851285" cy="32942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51285" cy="329423"/>
            </a:xfrm>
            <a:custGeom>
              <a:avLst/>
              <a:gdLst/>
              <a:ahLst/>
              <a:cxnLst/>
              <a:rect r="r" b="b" t="t" l="l"/>
              <a:pathLst>
                <a:path h="329423" w="851285">
                  <a:moveTo>
                    <a:pt x="31138" y="0"/>
                  </a:moveTo>
                  <a:lnTo>
                    <a:pt x="820147" y="0"/>
                  </a:lnTo>
                  <a:cubicBezTo>
                    <a:pt x="837344" y="0"/>
                    <a:pt x="851285" y="13941"/>
                    <a:pt x="851285" y="31138"/>
                  </a:cubicBezTo>
                  <a:lnTo>
                    <a:pt x="851285" y="298285"/>
                  </a:lnTo>
                  <a:cubicBezTo>
                    <a:pt x="851285" y="315482"/>
                    <a:pt x="837344" y="329423"/>
                    <a:pt x="820147" y="329423"/>
                  </a:cubicBezTo>
                  <a:lnTo>
                    <a:pt x="31138" y="329423"/>
                  </a:lnTo>
                  <a:cubicBezTo>
                    <a:pt x="13941" y="329423"/>
                    <a:pt x="0" y="315482"/>
                    <a:pt x="0" y="298285"/>
                  </a:cubicBezTo>
                  <a:lnTo>
                    <a:pt x="0" y="31138"/>
                  </a:lnTo>
                  <a:cubicBezTo>
                    <a:pt x="0" y="13941"/>
                    <a:pt x="13941" y="0"/>
                    <a:pt x="31138" y="0"/>
                  </a:cubicBezTo>
                  <a:close/>
                </a:path>
              </a:pathLst>
            </a:custGeom>
            <a:solidFill>
              <a:srgbClr val="C0D9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851285" cy="3770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Output projection</a:t>
              </a:r>
            </a:p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Linear(D,Dout)</a:t>
              </a:r>
            </a:p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(B,7,63,Dout)</a:t>
              </a:r>
            </a:p>
          </p:txBody>
        </p:sp>
      </p:grpSp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3850407" y="8250374"/>
          <a:ext cx="850909" cy="857250"/>
        </p:xfrm>
        <a:graphic>
          <a:graphicData uri="http://schemas.openxmlformats.org/drawingml/2006/table">
            <a:tbl>
              <a:tblPr/>
              <a:tblGrid>
                <a:gridCol w="850909"/>
              </a:tblGrid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D09E"/>
                    </a:solidFill>
                  </a:tcPr>
                </a:tc>
              </a:tr>
            </a:tbl>
          </a:graphicData>
        </a:graphic>
      </p:graphicFrame>
      <p:grpSp>
        <p:nvGrpSpPr>
          <p:cNvPr name="Group 16" id="16"/>
          <p:cNvGrpSpPr/>
          <p:nvPr/>
        </p:nvGrpSpPr>
        <p:grpSpPr>
          <a:xfrm rot="0">
            <a:off x="2984561" y="7393124"/>
            <a:ext cx="2552726" cy="857250"/>
            <a:chOff x="0" y="0"/>
            <a:chExt cx="3403635" cy="1143000"/>
          </a:xfrm>
        </p:grpSpPr>
      </p:grpSp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850909" y="0"/>
          <a:ext cx="850909" cy="857250"/>
        </p:xfrm>
        <a:graphic>
          <a:graphicData uri="http://schemas.openxmlformats.org/drawingml/2006/table">
            <a:tbl>
              <a:tblPr/>
              <a:tblGrid>
                <a:gridCol w="850909"/>
              </a:tblGrid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D09E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18" id="18"/>
          <p:cNvGraphicFramePr>
            <a:graphicFrameLocks noGrp="true"/>
          </p:cNvGraphicFramePr>
          <p:nvPr/>
        </p:nvGraphicFramePr>
        <p:xfrm>
          <a:off x="0" y="0"/>
          <a:ext cx="850909" cy="857250"/>
        </p:xfrm>
        <a:graphic>
          <a:graphicData uri="http://schemas.openxmlformats.org/drawingml/2006/table">
            <a:tbl>
              <a:tblPr/>
              <a:tblGrid>
                <a:gridCol w="850909"/>
              </a:tblGrid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D09E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1701818" y="0"/>
          <a:ext cx="850909" cy="857250"/>
        </p:xfrm>
        <a:graphic>
          <a:graphicData uri="http://schemas.openxmlformats.org/drawingml/2006/table">
            <a:tbl>
              <a:tblPr/>
              <a:tblGrid>
                <a:gridCol w="850909"/>
              </a:tblGrid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20" id="20"/>
          <p:cNvGraphicFramePr>
            <a:graphicFrameLocks noGrp="true"/>
          </p:cNvGraphicFramePr>
          <p:nvPr/>
        </p:nvGraphicFramePr>
        <p:xfrm>
          <a:off x="2999498" y="8250374"/>
          <a:ext cx="850909" cy="857250"/>
        </p:xfrm>
        <a:graphic>
          <a:graphicData uri="http://schemas.openxmlformats.org/drawingml/2006/table">
            <a:tbl>
              <a:tblPr/>
              <a:tblGrid>
                <a:gridCol w="850909"/>
              </a:tblGrid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D09E"/>
                    </a:solidFill>
                  </a:tcPr>
                </a:tc>
              </a:tr>
            </a:tbl>
          </a:graphicData>
        </a:graphic>
      </p:graphicFrame>
      <p:grpSp>
        <p:nvGrpSpPr>
          <p:cNvPr name="Group 21" id="21"/>
          <p:cNvGrpSpPr/>
          <p:nvPr/>
        </p:nvGrpSpPr>
        <p:grpSpPr>
          <a:xfrm rot="0">
            <a:off x="2999498" y="6562235"/>
            <a:ext cx="2552726" cy="857250"/>
            <a:chOff x="0" y="0"/>
            <a:chExt cx="3403635" cy="1143000"/>
          </a:xfrm>
        </p:grpSpPr>
      </p:grpSp>
      <p:graphicFrame>
        <p:nvGraphicFramePr>
          <p:cNvPr name="Table 22" id="22"/>
          <p:cNvGraphicFramePr>
            <a:graphicFrameLocks noGrp="true"/>
          </p:cNvGraphicFramePr>
          <p:nvPr/>
        </p:nvGraphicFramePr>
        <p:xfrm>
          <a:off x="0" y="0"/>
          <a:ext cx="850909" cy="857250"/>
        </p:xfrm>
        <a:graphic>
          <a:graphicData uri="http://schemas.openxmlformats.org/drawingml/2006/table">
            <a:tbl>
              <a:tblPr/>
              <a:tblGrid>
                <a:gridCol w="850909"/>
              </a:tblGrid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D09E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23" id="23"/>
          <p:cNvGraphicFramePr>
            <a:graphicFrameLocks noGrp="true"/>
          </p:cNvGraphicFramePr>
          <p:nvPr/>
        </p:nvGraphicFramePr>
        <p:xfrm>
          <a:off x="1701818" y="0"/>
          <a:ext cx="850909" cy="857250"/>
        </p:xfrm>
        <a:graphic>
          <a:graphicData uri="http://schemas.openxmlformats.org/drawingml/2006/table">
            <a:tbl>
              <a:tblPr/>
              <a:tblGrid>
                <a:gridCol w="850909"/>
              </a:tblGrid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24" id="24"/>
          <p:cNvGraphicFramePr>
            <a:graphicFrameLocks noGrp="true"/>
          </p:cNvGraphicFramePr>
          <p:nvPr/>
        </p:nvGraphicFramePr>
        <p:xfrm>
          <a:off x="850909" y="0"/>
          <a:ext cx="850909" cy="857250"/>
        </p:xfrm>
        <a:graphic>
          <a:graphicData uri="http://schemas.openxmlformats.org/drawingml/2006/table">
            <a:tbl>
              <a:tblPr/>
              <a:tblGrid>
                <a:gridCol w="850909"/>
              </a:tblGrid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D09E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25" id="25"/>
          <p:cNvGraphicFramePr>
            <a:graphicFrameLocks noGrp="true"/>
          </p:cNvGraphicFramePr>
          <p:nvPr/>
        </p:nvGraphicFramePr>
        <p:xfrm>
          <a:off x="4686378" y="8250374"/>
          <a:ext cx="850909" cy="857250"/>
        </p:xfrm>
        <a:graphic>
          <a:graphicData uri="http://schemas.openxmlformats.org/drawingml/2006/table">
            <a:tbl>
              <a:tblPr/>
              <a:tblGrid>
                <a:gridCol w="850909"/>
              </a:tblGrid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26" id="26"/>
          <p:cNvGraphicFramePr>
            <a:graphicFrameLocks noGrp="true"/>
          </p:cNvGraphicFramePr>
          <p:nvPr/>
        </p:nvGraphicFramePr>
        <p:xfrm>
          <a:off x="5537287" y="8250374"/>
          <a:ext cx="850909" cy="857250"/>
        </p:xfrm>
        <a:graphic>
          <a:graphicData uri="http://schemas.openxmlformats.org/drawingml/2006/table">
            <a:tbl>
              <a:tblPr/>
              <a:tblGrid>
                <a:gridCol w="850909"/>
              </a:tblGrid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27" id="27"/>
          <p:cNvGraphicFramePr>
            <a:graphicFrameLocks noGrp="true"/>
          </p:cNvGraphicFramePr>
          <p:nvPr/>
        </p:nvGraphicFramePr>
        <p:xfrm>
          <a:off x="5537287" y="7393124"/>
          <a:ext cx="850909" cy="857250"/>
        </p:xfrm>
        <a:graphic>
          <a:graphicData uri="http://schemas.openxmlformats.org/drawingml/2006/table">
            <a:tbl>
              <a:tblPr/>
              <a:tblGrid>
                <a:gridCol w="850909"/>
              </a:tblGrid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28" id="28"/>
          <p:cNvGraphicFramePr>
            <a:graphicFrameLocks noGrp="true"/>
          </p:cNvGraphicFramePr>
          <p:nvPr/>
        </p:nvGraphicFramePr>
        <p:xfrm>
          <a:off x="5552224" y="6562235"/>
          <a:ext cx="850909" cy="857250"/>
        </p:xfrm>
        <a:graphic>
          <a:graphicData uri="http://schemas.openxmlformats.org/drawingml/2006/table">
            <a:tbl>
              <a:tblPr/>
              <a:tblGrid>
                <a:gridCol w="850909"/>
              </a:tblGrid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29" id="29"/>
          <p:cNvGraphicFramePr>
            <a:graphicFrameLocks noGrp="true"/>
          </p:cNvGraphicFramePr>
          <p:nvPr/>
        </p:nvGraphicFramePr>
        <p:xfrm>
          <a:off x="6388196" y="8250374"/>
          <a:ext cx="850909" cy="857250"/>
        </p:xfrm>
        <a:graphic>
          <a:graphicData uri="http://schemas.openxmlformats.org/drawingml/2006/table">
            <a:tbl>
              <a:tblPr/>
              <a:tblGrid>
                <a:gridCol w="850909"/>
              </a:tblGrid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8ED6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30" id="30"/>
          <p:cNvGraphicFramePr>
            <a:graphicFrameLocks noGrp="true"/>
          </p:cNvGraphicFramePr>
          <p:nvPr/>
        </p:nvGraphicFramePr>
        <p:xfrm>
          <a:off x="6388196" y="7419485"/>
          <a:ext cx="850909" cy="857250"/>
        </p:xfrm>
        <a:graphic>
          <a:graphicData uri="http://schemas.openxmlformats.org/drawingml/2006/table">
            <a:tbl>
              <a:tblPr/>
              <a:tblGrid>
                <a:gridCol w="850909"/>
              </a:tblGrid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8ED6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31" id="31"/>
          <p:cNvGraphicFramePr>
            <a:graphicFrameLocks noGrp="true"/>
          </p:cNvGraphicFramePr>
          <p:nvPr/>
        </p:nvGraphicFramePr>
        <p:xfrm>
          <a:off x="6388196" y="6562235"/>
          <a:ext cx="850909" cy="857250"/>
        </p:xfrm>
        <a:graphic>
          <a:graphicData uri="http://schemas.openxmlformats.org/drawingml/2006/table">
            <a:tbl>
              <a:tblPr/>
              <a:tblGrid>
                <a:gridCol w="850909"/>
              </a:tblGrid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8ED6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32" id="32"/>
          <p:cNvGraphicFramePr>
            <a:graphicFrameLocks noGrp="true"/>
          </p:cNvGraphicFramePr>
          <p:nvPr/>
        </p:nvGraphicFramePr>
        <p:xfrm>
          <a:off x="7226396" y="8276735"/>
          <a:ext cx="850909" cy="857250"/>
        </p:xfrm>
        <a:graphic>
          <a:graphicData uri="http://schemas.openxmlformats.org/drawingml/2006/table">
            <a:tbl>
              <a:tblPr/>
              <a:tblGrid>
                <a:gridCol w="850909"/>
              </a:tblGrid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8ED6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33" id="33"/>
          <p:cNvGraphicFramePr>
            <a:graphicFrameLocks noGrp="true"/>
          </p:cNvGraphicFramePr>
          <p:nvPr/>
        </p:nvGraphicFramePr>
        <p:xfrm>
          <a:off x="7226396" y="7419485"/>
          <a:ext cx="850909" cy="857250"/>
        </p:xfrm>
        <a:graphic>
          <a:graphicData uri="http://schemas.openxmlformats.org/drawingml/2006/table">
            <a:tbl>
              <a:tblPr/>
              <a:tblGrid>
                <a:gridCol w="850909"/>
              </a:tblGrid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8ED6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34" id="34"/>
          <p:cNvGraphicFramePr>
            <a:graphicFrameLocks noGrp="true"/>
          </p:cNvGraphicFramePr>
          <p:nvPr/>
        </p:nvGraphicFramePr>
        <p:xfrm>
          <a:off x="7239105" y="6562235"/>
          <a:ext cx="850909" cy="857250"/>
        </p:xfrm>
        <a:graphic>
          <a:graphicData uri="http://schemas.openxmlformats.org/drawingml/2006/table">
            <a:tbl>
              <a:tblPr/>
              <a:tblGrid>
                <a:gridCol w="850909"/>
              </a:tblGrid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8ED6"/>
                    </a:solidFill>
                  </a:tcPr>
                </a:tc>
              </a:tr>
            </a:tbl>
          </a:graphicData>
        </a:graphic>
      </p:graphicFrame>
      <p:sp>
        <p:nvSpPr>
          <p:cNvPr name="AutoShape 35" id="35"/>
          <p:cNvSpPr/>
          <p:nvPr/>
        </p:nvSpPr>
        <p:spPr>
          <a:xfrm>
            <a:off x="3864230" y="9442223"/>
            <a:ext cx="337598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arrow" len="sm" w="med"/>
            <a:tailEnd type="arrow" len="sm" w="med"/>
          </a:ln>
        </p:spPr>
      </p:sp>
      <p:sp>
        <p:nvSpPr>
          <p:cNvPr name="TextBox 36" id="36"/>
          <p:cNvSpPr txBox="true"/>
          <p:nvPr/>
        </p:nvSpPr>
        <p:spPr>
          <a:xfrm rot="0">
            <a:off x="4664320" y="9584506"/>
            <a:ext cx="1745934" cy="452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6"/>
              </a:lnSpc>
              <a:spcBef>
                <a:spcPct val="0"/>
              </a:spcBef>
            </a:pPr>
            <a:r>
              <a:rPr lang="en-US" sz="2618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num_patch</a:t>
            </a:r>
          </a:p>
        </p:txBody>
      </p:sp>
      <p:sp>
        <p:nvSpPr>
          <p:cNvPr name="AutoShape 37" id="37"/>
          <p:cNvSpPr/>
          <p:nvPr/>
        </p:nvSpPr>
        <p:spPr>
          <a:xfrm flipV="true">
            <a:off x="2625762" y="6999254"/>
            <a:ext cx="0" cy="164499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arrow" len="sm" w="med"/>
            <a:tailEnd type="arrow" len="sm" w="med"/>
          </a:ln>
        </p:spPr>
      </p:sp>
      <p:sp>
        <p:nvSpPr>
          <p:cNvPr name="TextBox 38" id="38"/>
          <p:cNvSpPr txBox="true"/>
          <p:nvPr/>
        </p:nvSpPr>
        <p:spPr>
          <a:xfrm rot="0">
            <a:off x="2134531" y="7491717"/>
            <a:ext cx="356240" cy="646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79"/>
              </a:lnSpc>
              <a:spcBef>
                <a:spcPct val="0"/>
              </a:spcBef>
            </a:pPr>
            <a:r>
              <a:rPr lang="en-US" sz="3842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</a:t>
            </a:r>
          </a:p>
        </p:txBody>
      </p:sp>
      <p:sp>
        <p:nvSpPr>
          <p:cNvPr name="AutoShape 39" id="39"/>
          <p:cNvSpPr/>
          <p:nvPr/>
        </p:nvSpPr>
        <p:spPr>
          <a:xfrm>
            <a:off x="12878490" y="3671272"/>
            <a:ext cx="111733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0" id="40"/>
          <p:cNvSpPr/>
          <p:nvPr/>
        </p:nvSpPr>
        <p:spPr>
          <a:xfrm>
            <a:off x="8497680" y="3690322"/>
            <a:ext cx="111733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1" id="41"/>
          <p:cNvSpPr/>
          <p:nvPr/>
        </p:nvSpPr>
        <p:spPr>
          <a:xfrm>
            <a:off x="4148122" y="3709372"/>
            <a:ext cx="111733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aphicFrame>
        <p:nvGraphicFramePr>
          <p:cNvPr name="Table 42" id="42"/>
          <p:cNvGraphicFramePr>
            <a:graphicFrameLocks noGrp="true"/>
          </p:cNvGraphicFramePr>
          <p:nvPr/>
        </p:nvGraphicFramePr>
        <p:xfrm>
          <a:off x="10979194" y="6570629"/>
          <a:ext cx="850909" cy="857250"/>
        </p:xfrm>
        <a:graphic>
          <a:graphicData uri="http://schemas.openxmlformats.org/drawingml/2006/table">
            <a:tbl>
              <a:tblPr/>
              <a:tblGrid>
                <a:gridCol w="850909"/>
              </a:tblGrid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43" id="43"/>
          <p:cNvGraphicFramePr>
            <a:graphicFrameLocks noGrp="true"/>
          </p:cNvGraphicFramePr>
          <p:nvPr/>
        </p:nvGraphicFramePr>
        <p:xfrm>
          <a:off x="11823814" y="6570629"/>
          <a:ext cx="850909" cy="857250"/>
        </p:xfrm>
        <a:graphic>
          <a:graphicData uri="http://schemas.openxmlformats.org/drawingml/2006/table">
            <a:tbl>
              <a:tblPr/>
              <a:tblGrid>
                <a:gridCol w="850909"/>
              </a:tblGrid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3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44" id="44"/>
          <p:cNvGraphicFramePr>
            <a:graphicFrameLocks noGrp="true"/>
          </p:cNvGraphicFramePr>
          <p:nvPr/>
        </p:nvGraphicFramePr>
        <p:xfrm>
          <a:off x="10972905" y="8250374"/>
          <a:ext cx="850909" cy="857250"/>
        </p:xfrm>
        <a:graphic>
          <a:graphicData uri="http://schemas.openxmlformats.org/drawingml/2006/table">
            <a:tbl>
              <a:tblPr/>
              <a:tblGrid>
                <a:gridCol w="850909"/>
              </a:tblGrid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6CE6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45" id="45"/>
          <p:cNvGraphicFramePr>
            <a:graphicFrameLocks noGrp="true"/>
          </p:cNvGraphicFramePr>
          <p:nvPr/>
        </p:nvGraphicFramePr>
        <p:xfrm>
          <a:off x="10979194" y="7419485"/>
          <a:ext cx="850909" cy="857250"/>
        </p:xfrm>
        <a:graphic>
          <a:graphicData uri="http://schemas.openxmlformats.org/drawingml/2006/table">
            <a:tbl>
              <a:tblPr/>
              <a:tblGrid>
                <a:gridCol w="850909"/>
              </a:tblGrid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46" id="46"/>
          <p:cNvGraphicFramePr>
            <a:graphicFrameLocks noGrp="true"/>
          </p:cNvGraphicFramePr>
          <p:nvPr/>
        </p:nvGraphicFramePr>
        <p:xfrm>
          <a:off x="12649252" y="7427879"/>
          <a:ext cx="850909" cy="857250"/>
        </p:xfrm>
        <a:graphic>
          <a:graphicData uri="http://schemas.openxmlformats.org/drawingml/2006/table">
            <a:tbl>
              <a:tblPr/>
              <a:tblGrid>
                <a:gridCol w="850909"/>
              </a:tblGrid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17EB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47" id="47"/>
          <p:cNvGraphicFramePr>
            <a:graphicFrameLocks noGrp="true"/>
          </p:cNvGraphicFramePr>
          <p:nvPr/>
        </p:nvGraphicFramePr>
        <p:xfrm>
          <a:off x="12649252" y="6570629"/>
          <a:ext cx="850909" cy="857250"/>
        </p:xfrm>
        <a:graphic>
          <a:graphicData uri="http://schemas.openxmlformats.org/drawingml/2006/table">
            <a:tbl>
              <a:tblPr/>
              <a:tblGrid>
                <a:gridCol w="850909"/>
              </a:tblGrid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F95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48" id="48"/>
          <p:cNvGraphicFramePr>
            <a:graphicFrameLocks noGrp="true"/>
          </p:cNvGraphicFramePr>
          <p:nvPr/>
        </p:nvGraphicFramePr>
        <p:xfrm>
          <a:off x="11820630" y="8250374"/>
          <a:ext cx="850909" cy="857250"/>
        </p:xfrm>
        <a:graphic>
          <a:graphicData uri="http://schemas.openxmlformats.org/drawingml/2006/table">
            <a:tbl>
              <a:tblPr/>
              <a:tblGrid>
                <a:gridCol w="850909"/>
              </a:tblGrid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6FF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49" id="49"/>
          <p:cNvGraphicFramePr>
            <a:graphicFrameLocks noGrp="true"/>
          </p:cNvGraphicFramePr>
          <p:nvPr/>
        </p:nvGraphicFramePr>
        <p:xfrm>
          <a:off x="11823814" y="7427879"/>
          <a:ext cx="850909" cy="857250"/>
        </p:xfrm>
        <a:graphic>
          <a:graphicData uri="http://schemas.openxmlformats.org/drawingml/2006/table">
            <a:tbl>
              <a:tblPr/>
              <a:tblGrid>
                <a:gridCol w="850909"/>
              </a:tblGrid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C33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50" id="50"/>
          <p:cNvGraphicFramePr>
            <a:graphicFrameLocks noGrp="true"/>
          </p:cNvGraphicFramePr>
          <p:nvPr/>
        </p:nvGraphicFramePr>
        <p:xfrm>
          <a:off x="12671539" y="8250374"/>
          <a:ext cx="850909" cy="857250"/>
        </p:xfrm>
        <a:graphic>
          <a:graphicData uri="http://schemas.openxmlformats.org/drawingml/2006/table">
            <a:tbl>
              <a:tblPr/>
              <a:tblGrid>
                <a:gridCol w="850909"/>
              </a:tblGrid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3"/>
                    </a:solidFill>
                  </a:tcPr>
                </a:tc>
              </a:tr>
            </a:tbl>
          </a:graphicData>
        </a:graphic>
      </p:graphicFrame>
      <p:sp>
        <p:nvSpPr>
          <p:cNvPr name="AutoShape 51" id="51"/>
          <p:cNvSpPr/>
          <p:nvPr/>
        </p:nvSpPr>
        <p:spPr>
          <a:xfrm>
            <a:off x="14319311" y="7821749"/>
            <a:ext cx="111733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aphicFrame>
        <p:nvGraphicFramePr>
          <p:cNvPr name="Table 52" id="52"/>
          <p:cNvGraphicFramePr>
            <a:graphicFrameLocks noGrp="true"/>
          </p:cNvGraphicFramePr>
          <p:nvPr/>
        </p:nvGraphicFramePr>
        <p:xfrm>
          <a:off x="16048505" y="6570629"/>
          <a:ext cx="850909" cy="857250"/>
        </p:xfrm>
        <a:graphic>
          <a:graphicData uri="http://schemas.openxmlformats.org/drawingml/2006/table">
            <a:tbl>
              <a:tblPr/>
              <a:tblGrid>
                <a:gridCol w="850909"/>
              </a:tblGrid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53" id="53"/>
          <p:cNvGraphicFramePr>
            <a:graphicFrameLocks noGrp="true"/>
          </p:cNvGraphicFramePr>
          <p:nvPr/>
        </p:nvGraphicFramePr>
        <p:xfrm>
          <a:off x="16048505" y="7427879"/>
          <a:ext cx="850909" cy="857250"/>
        </p:xfrm>
        <a:graphic>
          <a:graphicData uri="http://schemas.openxmlformats.org/drawingml/2006/table">
            <a:tbl>
              <a:tblPr/>
              <a:tblGrid>
                <a:gridCol w="850909"/>
              </a:tblGrid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4DF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54" id="54"/>
          <p:cNvGraphicFramePr>
            <a:graphicFrameLocks noGrp="true"/>
          </p:cNvGraphicFramePr>
          <p:nvPr/>
        </p:nvGraphicFramePr>
        <p:xfrm>
          <a:off x="16046572" y="8250374"/>
          <a:ext cx="850909" cy="857250"/>
        </p:xfrm>
        <a:graphic>
          <a:graphicData uri="http://schemas.openxmlformats.org/drawingml/2006/table">
            <a:tbl>
              <a:tblPr/>
              <a:tblGrid>
                <a:gridCol w="850909"/>
              </a:tblGrid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17EB"/>
                    </a:solidFill>
                  </a:tcPr>
                </a:tc>
              </a:tr>
            </a:tbl>
          </a:graphicData>
        </a:graphic>
      </p:graphicFrame>
      <p:sp>
        <p:nvSpPr>
          <p:cNvPr name="TextBox 55" id="55"/>
          <p:cNvSpPr txBox="true"/>
          <p:nvPr/>
        </p:nvSpPr>
        <p:spPr>
          <a:xfrm rot="0">
            <a:off x="10112182" y="7634971"/>
            <a:ext cx="648337" cy="48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1"/>
              </a:lnSpc>
              <a:spcBef>
                <a:spcPct val="0"/>
              </a:spcBef>
            </a:pPr>
            <a:r>
              <a:rPr lang="en-US" sz="2922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K^T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2095929" y="5912846"/>
            <a:ext cx="300309" cy="513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38"/>
              </a:lnSpc>
              <a:spcBef>
                <a:spcPct val="0"/>
              </a:spcBef>
            </a:pPr>
            <a:r>
              <a:rPr lang="en-US" sz="3027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Q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4319311" y="7333346"/>
            <a:ext cx="986284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Softmax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1017" y="534250"/>
            <a:ext cx="7434209" cy="679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6"/>
              </a:lnSpc>
            </a:pPr>
            <a:r>
              <a:rPr lang="en-US" sz="3997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Đầu ra và đánh giá mô hình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721183" y="3114460"/>
            <a:ext cx="3232224" cy="1113624"/>
            <a:chOff x="0" y="0"/>
            <a:chExt cx="851285" cy="2933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51285" cy="293300"/>
            </a:xfrm>
            <a:custGeom>
              <a:avLst/>
              <a:gdLst/>
              <a:ahLst/>
              <a:cxnLst/>
              <a:rect r="r" b="b" t="t" l="l"/>
              <a:pathLst>
                <a:path h="293300" w="851285">
                  <a:moveTo>
                    <a:pt x="31138" y="0"/>
                  </a:moveTo>
                  <a:lnTo>
                    <a:pt x="820147" y="0"/>
                  </a:lnTo>
                  <a:cubicBezTo>
                    <a:pt x="837344" y="0"/>
                    <a:pt x="851285" y="13941"/>
                    <a:pt x="851285" y="31138"/>
                  </a:cubicBezTo>
                  <a:lnTo>
                    <a:pt x="851285" y="262162"/>
                  </a:lnTo>
                  <a:cubicBezTo>
                    <a:pt x="851285" y="279359"/>
                    <a:pt x="837344" y="293300"/>
                    <a:pt x="820147" y="293300"/>
                  </a:cubicBezTo>
                  <a:lnTo>
                    <a:pt x="31138" y="293300"/>
                  </a:lnTo>
                  <a:cubicBezTo>
                    <a:pt x="13941" y="293300"/>
                    <a:pt x="0" y="279359"/>
                    <a:pt x="0" y="262162"/>
                  </a:cubicBezTo>
                  <a:lnTo>
                    <a:pt x="0" y="31138"/>
                  </a:lnTo>
                  <a:cubicBezTo>
                    <a:pt x="0" y="13941"/>
                    <a:pt x="13941" y="0"/>
                    <a:pt x="31138" y="0"/>
                  </a:cubicBezTo>
                  <a:close/>
                </a:path>
              </a:pathLst>
            </a:custGeom>
            <a:solidFill>
              <a:srgbClr val="FEE0E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851285" cy="340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Forecast</a:t>
              </a:r>
            </a:p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(B,24,7)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374534" y="3114460"/>
            <a:ext cx="3232224" cy="1113624"/>
            <a:chOff x="0" y="0"/>
            <a:chExt cx="851285" cy="293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51285" cy="293300"/>
            </a:xfrm>
            <a:custGeom>
              <a:avLst/>
              <a:gdLst/>
              <a:ahLst/>
              <a:cxnLst/>
              <a:rect r="r" b="b" t="t" l="l"/>
              <a:pathLst>
                <a:path h="293300" w="851285">
                  <a:moveTo>
                    <a:pt x="31138" y="0"/>
                  </a:moveTo>
                  <a:lnTo>
                    <a:pt x="820147" y="0"/>
                  </a:lnTo>
                  <a:cubicBezTo>
                    <a:pt x="837344" y="0"/>
                    <a:pt x="851285" y="13941"/>
                    <a:pt x="851285" y="31138"/>
                  </a:cubicBezTo>
                  <a:lnTo>
                    <a:pt x="851285" y="262162"/>
                  </a:lnTo>
                  <a:cubicBezTo>
                    <a:pt x="851285" y="279359"/>
                    <a:pt x="837344" y="293300"/>
                    <a:pt x="820147" y="293300"/>
                  </a:cubicBezTo>
                  <a:lnTo>
                    <a:pt x="31138" y="293300"/>
                  </a:lnTo>
                  <a:cubicBezTo>
                    <a:pt x="13941" y="293300"/>
                    <a:pt x="0" y="279359"/>
                    <a:pt x="0" y="262162"/>
                  </a:cubicBezTo>
                  <a:lnTo>
                    <a:pt x="0" y="31138"/>
                  </a:lnTo>
                  <a:cubicBezTo>
                    <a:pt x="0" y="13941"/>
                    <a:pt x="13941" y="0"/>
                    <a:pt x="31138" y="0"/>
                  </a:cubicBezTo>
                  <a:close/>
                </a:path>
              </a:pathLst>
            </a:custGeom>
            <a:solidFill>
              <a:srgbClr val="F3E6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51285" cy="340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Forecast Head</a:t>
              </a:r>
            </a:p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Flatten + Linear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3114460"/>
            <a:ext cx="3232224" cy="1113624"/>
            <a:chOff x="0" y="0"/>
            <a:chExt cx="851285" cy="293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51285" cy="293300"/>
            </a:xfrm>
            <a:custGeom>
              <a:avLst/>
              <a:gdLst/>
              <a:ahLst/>
              <a:cxnLst/>
              <a:rect r="r" b="b" t="t" l="l"/>
              <a:pathLst>
                <a:path h="293300" w="851285">
                  <a:moveTo>
                    <a:pt x="31138" y="0"/>
                  </a:moveTo>
                  <a:lnTo>
                    <a:pt x="820147" y="0"/>
                  </a:lnTo>
                  <a:cubicBezTo>
                    <a:pt x="837344" y="0"/>
                    <a:pt x="851285" y="13941"/>
                    <a:pt x="851285" y="31138"/>
                  </a:cubicBezTo>
                  <a:lnTo>
                    <a:pt x="851285" y="262162"/>
                  </a:lnTo>
                  <a:cubicBezTo>
                    <a:pt x="851285" y="279359"/>
                    <a:pt x="837344" y="293300"/>
                    <a:pt x="820147" y="293300"/>
                  </a:cubicBezTo>
                  <a:lnTo>
                    <a:pt x="31138" y="293300"/>
                  </a:lnTo>
                  <a:cubicBezTo>
                    <a:pt x="13941" y="293300"/>
                    <a:pt x="0" y="279359"/>
                    <a:pt x="0" y="262162"/>
                  </a:cubicBezTo>
                  <a:lnTo>
                    <a:pt x="0" y="31138"/>
                  </a:lnTo>
                  <a:cubicBezTo>
                    <a:pt x="0" y="13941"/>
                    <a:pt x="13941" y="0"/>
                    <a:pt x="31138" y="0"/>
                  </a:cubicBezTo>
                  <a:close/>
                </a:path>
              </a:pathLst>
            </a:custGeom>
            <a:solidFill>
              <a:srgbClr val="C0D9F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51285" cy="340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Output projection</a:t>
              </a:r>
            </a:p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Linear(D,Dout)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067832" y="3114460"/>
            <a:ext cx="3232224" cy="1113624"/>
            <a:chOff x="0" y="0"/>
            <a:chExt cx="851285" cy="2933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51285" cy="293300"/>
            </a:xfrm>
            <a:custGeom>
              <a:avLst/>
              <a:gdLst/>
              <a:ahLst/>
              <a:cxnLst/>
              <a:rect r="r" b="b" t="t" l="l"/>
              <a:pathLst>
                <a:path h="293300" w="851285">
                  <a:moveTo>
                    <a:pt x="31138" y="0"/>
                  </a:moveTo>
                  <a:lnTo>
                    <a:pt x="820147" y="0"/>
                  </a:lnTo>
                  <a:cubicBezTo>
                    <a:pt x="837344" y="0"/>
                    <a:pt x="851285" y="13941"/>
                    <a:pt x="851285" y="31138"/>
                  </a:cubicBezTo>
                  <a:lnTo>
                    <a:pt x="851285" y="262162"/>
                  </a:lnTo>
                  <a:cubicBezTo>
                    <a:pt x="851285" y="279359"/>
                    <a:pt x="837344" y="293300"/>
                    <a:pt x="820147" y="293300"/>
                  </a:cubicBezTo>
                  <a:lnTo>
                    <a:pt x="31138" y="293300"/>
                  </a:lnTo>
                  <a:cubicBezTo>
                    <a:pt x="13941" y="293300"/>
                    <a:pt x="0" y="279359"/>
                    <a:pt x="0" y="262162"/>
                  </a:cubicBezTo>
                  <a:lnTo>
                    <a:pt x="0" y="31138"/>
                  </a:lnTo>
                  <a:cubicBezTo>
                    <a:pt x="0" y="13941"/>
                    <a:pt x="13941" y="0"/>
                    <a:pt x="31138" y="0"/>
                  </a:cubicBezTo>
                  <a:close/>
                </a:path>
              </a:pathLst>
            </a:custGeom>
            <a:solidFill>
              <a:srgbClr val="FEF3C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851285" cy="340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Loss Function</a:t>
              </a:r>
            </a:p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MSE + MAE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4260924" y="3690322"/>
            <a:ext cx="111733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6" id="16"/>
          <p:cNvSpPr/>
          <p:nvPr/>
        </p:nvSpPr>
        <p:spPr>
          <a:xfrm>
            <a:off x="8606758" y="3709372"/>
            <a:ext cx="111733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7" id="17"/>
          <p:cNvSpPr/>
          <p:nvPr/>
        </p:nvSpPr>
        <p:spPr>
          <a:xfrm>
            <a:off x="12950498" y="3690322"/>
            <a:ext cx="111733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8" id="18"/>
          <p:cNvGrpSpPr/>
          <p:nvPr/>
        </p:nvGrpSpPr>
        <p:grpSpPr>
          <a:xfrm rot="0">
            <a:off x="9598945" y="7021887"/>
            <a:ext cx="5568879" cy="879883"/>
            <a:chOff x="0" y="0"/>
            <a:chExt cx="7425173" cy="117317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73178" cy="1173178"/>
            </a:xfrm>
            <a:custGeom>
              <a:avLst/>
              <a:gdLst/>
              <a:ahLst/>
              <a:cxnLst/>
              <a:rect r="r" b="b" t="t" l="l"/>
              <a:pathLst>
                <a:path h="1173178" w="1173178">
                  <a:moveTo>
                    <a:pt x="0" y="0"/>
                  </a:moveTo>
                  <a:lnTo>
                    <a:pt x="1173178" y="0"/>
                  </a:lnTo>
                  <a:lnTo>
                    <a:pt x="1173178" y="1173178"/>
                  </a:lnTo>
                  <a:lnTo>
                    <a:pt x="0" y="11731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107692" y="0"/>
              <a:ext cx="1173178" cy="1173178"/>
            </a:xfrm>
            <a:custGeom>
              <a:avLst/>
              <a:gdLst/>
              <a:ahLst/>
              <a:cxnLst/>
              <a:rect r="r" b="b" t="t" l="l"/>
              <a:pathLst>
                <a:path h="1173178" w="1173178">
                  <a:moveTo>
                    <a:pt x="0" y="0"/>
                  </a:moveTo>
                  <a:lnTo>
                    <a:pt x="1173178" y="0"/>
                  </a:lnTo>
                  <a:lnTo>
                    <a:pt x="1173178" y="1173178"/>
                  </a:lnTo>
                  <a:lnTo>
                    <a:pt x="0" y="11731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4179844" y="0"/>
              <a:ext cx="1173178" cy="1173178"/>
            </a:xfrm>
            <a:custGeom>
              <a:avLst/>
              <a:gdLst/>
              <a:ahLst/>
              <a:cxnLst/>
              <a:rect r="r" b="b" t="t" l="l"/>
              <a:pathLst>
                <a:path h="1173178" w="1173178">
                  <a:moveTo>
                    <a:pt x="0" y="0"/>
                  </a:moveTo>
                  <a:lnTo>
                    <a:pt x="1173177" y="0"/>
                  </a:lnTo>
                  <a:lnTo>
                    <a:pt x="1173177" y="1173178"/>
                  </a:lnTo>
                  <a:lnTo>
                    <a:pt x="0" y="11731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251995" y="0"/>
              <a:ext cx="1173178" cy="1173178"/>
            </a:xfrm>
            <a:custGeom>
              <a:avLst/>
              <a:gdLst/>
              <a:ahLst/>
              <a:cxnLst/>
              <a:rect r="r" b="b" t="t" l="l"/>
              <a:pathLst>
                <a:path h="1173178" w="1173178">
                  <a:moveTo>
                    <a:pt x="0" y="0"/>
                  </a:moveTo>
                  <a:lnTo>
                    <a:pt x="1173178" y="0"/>
                  </a:lnTo>
                  <a:lnTo>
                    <a:pt x="1173178" y="1173178"/>
                  </a:lnTo>
                  <a:lnTo>
                    <a:pt x="0" y="11731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aphicFrame>
        <p:nvGraphicFramePr>
          <p:cNvPr name="Table 23" id="23"/>
          <p:cNvGraphicFramePr>
            <a:graphicFrameLocks noGrp="true"/>
          </p:cNvGraphicFramePr>
          <p:nvPr/>
        </p:nvGraphicFramePr>
        <p:xfrm>
          <a:off x="3835470" y="6026601"/>
          <a:ext cx="850909" cy="857250"/>
        </p:xfrm>
        <a:graphic>
          <a:graphicData uri="http://schemas.openxmlformats.org/drawingml/2006/table">
            <a:tbl>
              <a:tblPr/>
              <a:tblGrid>
                <a:gridCol w="850909"/>
              </a:tblGrid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24" id="24"/>
          <p:cNvGraphicFramePr>
            <a:graphicFrameLocks noGrp="true"/>
          </p:cNvGraphicFramePr>
          <p:nvPr/>
        </p:nvGraphicFramePr>
        <p:xfrm>
          <a:off x="3835470" y="6822190"/>
          <a:ext cx="850909" cy="857250"/>
        </p:xfrm>
        <a:graphic>
          <a:graphicData uri="http://schemas.openxmlformats.org/drawingml/2006/table">
            <a:tbl>
              <a:tblPr/>
              <a:tblGrid>
                <a:gridCol w="850909"/>
              </a:tblGrid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25" id="25"/>
          <p:cNvGraphicFramePr>
            <a:graphicFrameLocks noGrp="true"/>
          </p:cNvGraphicFramePr>
          <p:nvPr/>
        </p:nvGraphicFramePr>
        <p:xfrm>
          <a:off x="3835470" y="7620091"/>
          <a:ext cx="850909" cy="857250"/>
        </p:xfrm>
        <a:graphic>
          <a:graphicData uri="http://schemas.openxmlformats.org/drawingml/2006/table">
            <a:tbl>
              <a:tblPr/>
              <a:tblGrid>
                <a:gridCol w="850909"/>
              </a:tblGrid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6FF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26" id="26"/>
          <p:cNvGraphicFramePr>
            <a:graphicFrameLocks noGrp="true"/>
          </p:cNvGraphicFramePr>
          <p:nvPr/>
        </p:nvGraphicFramePr>
        <p:xfrm>
          <a:off x="4686378" y="6822190"/>
          <a:ext cx="850909" cy="857250"/>
        </p:xfrm>
        <a:graphic>
          <a:graphicData uri="http://schemas.openxmlformats.org/drawingml/2006/table">
            <a:tbl>
              <a:tblPr/>
              <a:tblGrid>
                <a:gridCol w="850909"/>
              </a:tblGrid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B159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27" id="27"/>
          <p:cNvGraphicFramePr>
            <a:graphicFrameLocks noGrp="true"/>
          </p:cNvGraphicFramePr>
          <p:nvPr/>
        </p:nvGraphicFramePr>
        <p:xfrm>
          <a:off x="4686378" y="6026601"/>
          <a:ext cx="850909" cy="857250"/>
        </p:xfrm>
        <a:graphic>
          <a:graphicData uri="http://schemas.openxmlformats.org/drawingml/2006/table">
            <a:tbl>
              <a:tblPr/>
              <a:tblGrid>
                <a:gridCol w="850909"/>
              </a:tblGrid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9F7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28" id="28"/>
          <p:cNvGraphicFramePr>
            <a:graphicFrameLocks noGrp="true"/>
          </p:cNvGraphicFramePr>
          <p:nvPr/>
        </p:nvGraphicFramePr>
        <p:xfrm>
          <a:off x="4686378" y="7620091"/>
          <a:ext cx="850909" cy="857250"/>
        </p:xfrm>
        <a:graphic>
          <a:graphicData uri="http://schemas.openxmlformats.org/drawingml/2006/table">
            <a:tbl>
              <a:tblPr/>
              <a:tblGrid>
                <a:gridCol w="850909"/>
              </a:tblGrid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29" id="29"/>
          <p:cNvGraphicFramePr>
            <a:graphicFrameLocks noGrp="true"/>
          </p:cNvGraphicFramePr>
          <p:nvPr/>
        </p:nvGraphicFramePr>
        <p:xfrm>
          <a:off x="5537287" y="7620091"/>
          <a:ext cx="850909" cy="857250"/>
        </p:xfrm>
        <a:graphic>
          <a:graphicData uri="http://schemas.openxmlformats.org/drawingml/2006/table">
            <a:tbl>
              <a:tblPr/>
              <a:tblGrid>
                <a:gridCol w="850909"/>
              </a:tblGrid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6CE6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30" id="30"/>
          <p:cNvGraphicFramePr>
            <a:graphicFrameLocks noGrp="true"/>
          </p:cNvGraphicFramePr>
          <p:nvPr/>
        </p:nvGraphicFramePr>
        <p:xfrm>
          <a:off x="5537287" y="6026601"/>
          <a:ext cx="850909" cy="857250"/>
        </p:xfrm>
        <a:graphic>
          <a:graphicData uri="http://schemas.openxmlformats.org/drawingml/2006/table">
            <a:tbl>
              <a:tblPr/>
              <a:tblGrid>
                <a:gridCol w="850909"/>
              </a:tblGrid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F95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31" id="31"/>
          <p:cNvGraphicFramePr>
            <a:graphicFrameLocks noGrp="true"/>
          </p:cNvGraphicFramePr>
          <p:nvPr/>
        </p:nvGraphicFramePr>
        <p:xfrm>
          <a:off x="5537287" y="6822190"/>
          <a:ext cx="850909" cy="857250"/>
        </p:xfrm>
        <a:graphic>
          <a:graphicData uri="http://schemas.openxmlformats.org/drawingml/2006/table">
            <a:tbl>
              <a:tblPr/>
              <a:tblGrid>
                <a:gridCol w="850909"/>
              </a:tblGrid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name="AutoShape 32" id="32"/>
          <p:cNvSpPr/>
          <p:nvPr/>
        </p:nvSpPr>
        <p:spPr>
          <a:xfrm flipV="true">
            <a:off x="7057171" y="7452303"/>
            <a:ext cx="1616112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33" id="33"/>
          <p:cNvSpPr txBox="true"/>
          <p:nvPr/>
        </p:nvSpPr>
        <p:spPr>
          <a:xfrm rot="0">
            <a:off x="7235921" y="6836226"/>
            <a:ext cx="105767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9"/>
              </a:lnSpc>
              <a:spcBef>
                <a:spcPct val="0"/>
              </a:spcBef>
            </a:pPr>
            <a:r>
              <a:rPr lang="en-US" sz="2842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vector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73443" y="273419"/>
            <a:ext cx="10429169" cy="4771345"/>
          </a:xfrm>
          <a:custGeom>
            <a:avLst/>
            <a:gdLst/>
            <a:ahLst/>
            <a:cxnLst/>
            <a:rect r="r" b="b" t="t" l="l"/>
            <a:pathLst>
              <a:path h="4771345" w="10429169">
                <a:moveTo>
                  <a:pt x="0" y="0"/>
                </a:moveTo>
                <a:lnTo>
                  <a:pt x="10429170" y="0"/>
                </a:lnTo>
                <a:lnTo>
                  <a:pt x="10429170" y="4771345"/>
                </a:lnTo>
                <a:lnTo>
                  <a:pt x="0" y="47713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73443" y="5298260"/>
            <a:ext cx="10429169" cy="4771345"/>
          </a:xfrm>
          <a:custGeom>
            <a:avLst/>
            <a:gdLst/>
            <a:ahLst/>
            <a:cxnLst/>
            <a:rect r="r" b="b" t="t" l="l"/>
            <a:pathLst>
              <a:path h="4771345" w="10429169">
                <a:moveTo>
                  <a:pt x="0" y="0"/>
                </a:moveTo>
                <a:lnTo>
                  <a:pt x="10429170" y="0"/>
                </a:lnTo>
                <a:lnTo>
                  <a:pt x="10429170" y="4771346"/>
                </a:lnTo>
                <a:lnTo>
                  <a:pt x="0" y="47713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0695702" y="1863639"/>
          <a:ext cx="7315200" cy="2082973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8344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Method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MSE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MAE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4856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Full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0.2811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0.2104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705645" y="6855892"/>
          <a:ext cx="7315200" cy="2127657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8914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Method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MSE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MAE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619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Full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0.0675</a:t>
                      </a:r>
                      <a:endParaRPr lang="en-US" sz="1100"/>
                    </a:p>
                    <a:p>
                      <a:pPr algn="ctr">
                        <a:lnSpc>
                          <a:spcPts val="28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0.1724</a:t>
                      </a:r>
                      <a:endParaRPr lang="en-US" sz="1100"/>
                    </a:p>
                    <a:p>
                      <a:pPr algn="ctr">
                        <a:lnSpc>
                          <a:spcPts val="28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0316910" y="7296150"/>
            <a:ext cx="2901887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Dataset public</a:t>
            </a: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6421456" y="2070371"/>
            <a:ext cx="308997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Dataset private</a:t>
            </a:r>
          </a:p>
        </p:txBody>
      </p:sp>
      <p:sp>
        <p:nvSpPr>
          <p:cNvPr name="AutoShape 6" id="6"/>
          <p:cNvSpPr/>
          <p:nvPr/>
        </p:nvSpPr>
        <p:spPr>
          <a:xfrm>
            <a:off x="0" y="5143500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5897880" y="5143500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7211567" y="2905125"/>
            <a:ext cx="310534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9" id="9"/>
          <p:cNvSpPr/>
          <p:nvPr/>
        </p:nvSpPr>
        <p:spPr>
          <a:xfrm>
            <a:off x="9511444" y="8180724"/>
            <a:ext cx="287867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7615313" y="703662"/>
          <a:ext cx="9536988" cy="3677752"/>
        </p:xfrm>
        <a:graphic>
          <a:graphicData uri="http://schemas.openxmlformats.org/drawingml/2006/table">
            <a:tbl>
              <a:tblPr/>
              <a:tblGrid>
                <a:gridCol w="3178996"/>
                <a:gridCol w="3178996"/>
                <a:gridCol w="3178996"/>
              </a:tblGrid>
              <a:tr h="90472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MSE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MAE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46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PAttn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0.2811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37"/>
                        </a:lnSpc>
                        <a:defRPr/>
                      </a:pPr>
                      <a:r>
                        <a:rPr lang="en-US" sz="25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0.2104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399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CALF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0.2669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37"/>
                        </a:lnSpc>
                        <a:defRPr/>
                      </a:pPr>
                      <a:r>
                        <a:rPr lang="en-US" sz="25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0.1684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434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OFA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0.0081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37"/>
                        </a:lnSpc>
                        <a:defRPr/>
                      </a:pPr>
                      <a:r>
                        <a:rPr lang="en-US" sz="25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0.0605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028700" y="5648972"/>
          <a:ext cx="9527097" cy="3676650"/>
        </p:xfrm>
        <a:graphic>
          <a:graphicData uri="http://schemas.openxmlformats.org/drawingml/2006/table">
            <a:tbl>
              <a:tblPr/>
              <a:tblGrid>
                <a:gridCol w="3175699"/>
                <a:gridCol w="3175699"/>
                <a:gridCol w="3175699"/>
              </a:tblGrid>
              <a:tr h="9047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MSE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MAE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39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PAttn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0.0675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37"/>
                        </a:lnSpc>
                        <a:defRPr/>
                      </a:pPr>
                      <a:r>
                        <a:rPr lang="en-US" sz="2500" b="true">
                          <a:solidFill>
                            <a:srgbClr val="000000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0.1724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39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CALF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0.3230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37"/>
                        </a:lnSpc>
                        <a:defRPr/>
                      </a:pPr>
                      <a:r>
                        <a:rPr lang="en-US" sz="25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0.2830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39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OFA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0.1705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37"/>
                        </a:lnSpc>
                        <a:defRPr/>
                      </a:pPr>
                      <a:r>
                        <a:rPr lang="en-US" sz="25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0.2523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AutoShape 4" id="4"/>
          <p:cNvSpPr/>
          <p:nvPr/>
        </p:nvSpPr>
        <p:spPr>
          <a:xfrm flipV="true">
            <a:off x="3598319" y="2907788"/>
            <a:ext cx="310534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" id="5"/>
          <p:cNvSpPr/>
          <p:nvPr/>
        </p:nvSpPr>
        <p:spPr>
          <a:xfrm flipV="true">
            <a:off x="12691414" y="7506347"/>
            <a:ext cx="310534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3513379" y="2201024"/>
            <a:ext cx="308997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Dataset private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800847" y="6739122"/>
            <a:ext cx="290185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Dataset public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25167" y="410950"/>
            <a:ext cx="3073152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Benmark </a:t>
            </a:r>
          </a:p>
          <a:p>
            <a:pPr algn="ctr">
              <a:lnSpc>
                <a:spcPts val="70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30462" y="678775"/>
            <a:ext cx="2914352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Kết luận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56020" y="2838923"/>
            <a:ext cx="17631980" cy="478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PAttn đạt h</a:t>
            </a: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iệu quả dự báo tốt trên ETTm2 và BTC/USDT.</a:t>
            </a:r>
          </a:p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Sai số MSE và MAE thấp, thời gian huấn luyện nhanh.</a:t>
            </a:r>
          </a:p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So với CALF và OFA, PAttn có hiệu năng cạnh tranh trong khi chi phí tính toán thấp hơn.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➡ PAttn là một lựa chọn phù hợp cho bài toán dự báo chuỗi thời gian, đặc biệt khi cần cân bằng giữa độ chính xác và hiệu quả tính toán.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75650" y="3576956"/>
            <a:ext cx="693670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DAHMz6iL8aY</dc:identifier>
  <dcterms:modified xsi:type="dcterms:W3CDTF">2011-08-01T06:04:30Z</dcterms:modified>
  <cp:revision>1</cp:revision>
  <dc:title>BTL-Timeseries</dc:title>
</cp:coreProperties>
</file>